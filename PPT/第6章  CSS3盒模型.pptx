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660" r:id="rId4"/>
    <p:sldId id="603" r:id="rId5"/>
    <p:sldId id="566" r:id="rId6"/>
    <p:sldId id="568" r:id="rId7"/>
    <p:sldId id="580" r:id="rId8"/>
    <p:sldId id="714" r:id="rId9"/>
    <p:sldId id="715" r:id="rId10"/>
    <p:sldId id="569" r:id="rId11"/>
    <p:sldId id="666" r:id="rId12"/>
    <p:sldId id="822" r:id="rId14"/>
    <p:sldId id="667" r:id="rId15"/>
    <p:sldId id="823" r:id="rId16"/>
    <p:sldId id="771" r:id="rId17"/>
    <p:sldId id="824" r:id="rId18"/>
    <p:sldId id="825" r:id="rId19"/>
    <p:sldId id="826" r:id="rId20"/>
    <p:sldId id="827" r:id="rId21"/>
    <p:sldId id="828" r:id="rId22"/>
    <p:sldId id="772" r:id="rId23"/>
    <p:sldId id="829" r:id="rId24"/>
    <p:sldId id="773" r:id="rId25"/>
    <p:sldId id="830" r:id="rId26"/>
    <p:sldId id="774" r:id="rId27"/>
    <p:sldId id="831" r:id="rId28"/>
    <p:sldId id="570" r:id="rId29"/>
    <p:sldId id="668" r:id="rId30"/>
    <p:sldId id="832" r:id="rId31"/>
    <p:sldId id="833" r:id="rId32"/>
    <p:sldId id="749" r:id="rId33"/>
    <p:sldId id="834" r:id="rId34"/>
    <p:sldId id="794" r:id="rId35"/>
    <p:sldId id="835" r:id="rId36"/>
    <p:sldId id="777" r:id="rId37"/>
    <p:sldId id="836" r:id="rId38"/>
    <p:sldId id="795" r:id="rId39"/>
    <p:sldId id="837" r:id="rId40"/>
    <p:sldId id="796" r:id="rId41"/>
    <p:sldId id="838" r:id="rId42"/>
    <p:sldId id="571" r:id="rId43"/>
    <p:sldId id="672" r:id="rId44"/>
    <p:sldId id="778" r:id="rId45"/>
    <p:sldId id="839" r:id="rId46"/>
    <p:sldId id="840" r:id="rId47"/>
    <p:sldId id="841" r:id="rId48"/>
    <p:sldId id="842" r:id="rId49"/>
    <p:sldId id="843" r:id="rId50"/>
    <p:sldId id="779" r:id="rId51"/>
    <p:sldId id="844" r:id="rId52"/>
    <p:sldId id="572" r:id="rId53"/>
    <p:sldId id="676" r:id="rId54"/>
    <p:sldId id="717" r:id="rId55"/>
    <p:sldId id="803" r:id="rId56"/>
    <p:sldId id="804" r:id="rId57"/>
    <p:sldId id="805" r:id="rId58"/>
    <p:sldId id="806" r:id="rId59"/>
    <p:sldId id="807" r:id="rId60"/>
    <p:sldId id="845" r:id="rId61"/>
    <p:sldId id="846" r:id="rId62"/>
    <p:sldId id="847" r:id="rId63"/>
    <p:sldId id="707" r:id="rId64"/>
    <p:sldId id="719" r:id="rId65"/>
    <p:sldId id="695" r:id="rId66"/>
  </p:sldIdLst>
  <p:sldSz cx="12192000" cy="6858000"/>
  <p:notesSz cx="6858000" cy="9144000"/>
  <p:custDataLst>
    <p:tags r:id="rId70"/>
  </p:custDataLst>
  <p:defaultTextStyle>
    <a:defPPr>
      <a:defRPr lang="zh-CN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B4E6"/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napToObjects="1" showGuides="1">
      <p:cViewPr varScale="1">
        <p:scale>
          <a:sx n="116" d="100"/>
          <a:sy n="116" d="100"/>
        </p:scale>
        <p:origin x="336" y="108"/>
      </p:cViewPr>
      <p:guideLst>
        <p:guide orient="horz" pos="2072"/>
        <p:guide pos="38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tags" Target="tags/tag1.xml"/><Relationship Id="rId7" Type="http://schemas.openxmlformats.org/officeDocument/2006/relationships/slide" Target="slides/slide4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63645" y="715645"/>
            <a:ext cx="4814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smtClean="0"/>
              <a:t>面向新工科普通高等教育系列</a:t>
            </a:r>
            <a:r>
              <a:rPr lang="zh-CN" altLang="zh-CN" sz="2400"/>
              <a:t>教材</a:t>
            </a:r>
            <a:endParaRPr lang="zh-CN" altLang="zh-CN" sz="2400"/>
          </a:p>
        </p:txBody>
      </p:sp>
      <p:sp>
        <p:nvSpPr>
          <p:cNvPr id="21" name="文本框 20"/>
          <p:cNvSpPr txBox="1"/>
          <p:nvPr/>
        </p:nvSpPr>
        <p:spPr>
          <a:xfrm>
            <a:off x="9003665" y="5825490"/>
            <a:ext cx="2230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300" normalizeH="0" baseline="0" noProof="0" smtClean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机械工业出</a:t>
            </a:r>
            <a:r>
              <a:rPr kumimoji="0" lang="zh-CN" altLang="en-US" sz="2000" b="1" kern="1200" cap="none" spc="300" normalizeH="0" baseline="0" noProof="0" dirty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版社</a:t>
            </a:r>
            <a:endParaRPr kumimoji="0" lang="zh-CN" altLang="en-US" sz="2000" b="1" kern="1200" cap="none" spc="300" normalizeH="0" baseline="0" noProof="0" dirty="0">
              <a:solidFill>
                <a:srgbClr val="D34817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6152" y="1656298"/>
            <a:ext cx="102279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网页设计与制作教程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（HTML+CSS+JavaScript）第3版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3"/>
          <p:cNvSpPr>
            <a:spLocks noGrp="1"/>
          </p:cNvSpPr>
          <p:nvPr>
            <p:ph type="ctrTitle"/>
          </p:nvPr>
        </p:nvSpPr>
        <p:spPr>
          <a:xfrm>
            <a:off x="609600" y="1506538"/>
            <a:ext cx="10972800" cy="1470025"/>
          </a:xfrm>
        </p:spPr>
        <p:txBody>
          <a:bodyPr vert="horz" wrap="square" lIns="91440" tIns="45720" rIns="91440" bIns="91440" anchor="ctr" anchorCtr="0"/>
          <a:p>
            <a:pPr>
              <a:buClrTx/>
              <a:buSzTx/>
              <a:buFontTx/>
              <a:buNone/>
            </a:pPr>
            <a:r>
              <a:rPr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第6章  CSS3盒模型</a:t>
            </a:r>
            <a:endParaRPr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195" name="Rectangle 1"/>
          <p:cNvSpPr>
            <a:spLocks noGrp="1"/>
          </p:cNvSpPr>
          <p:nvPr>
            <p:ph type="body" idx="1"/>
          </p:nvPr>
        </p:nvSpPr>
        <p:spPr>
          <a:xfrm>
            <a:off x="601345" y="2548255"/>
            <a:ext cx="5260340" cy="3571240"/>
          </a:xfrm>
        </p:spPr>
        <p:txBody>
          <a:bodyPr/>
          <a:p>
            <a:r>
              <a:t>6.1  盒模型概述</a:t>
            </a:r>
          </a:p>
          <a:p>
            <a:r>
              <a:t>6.2  盒模型的属性</a:t>
            </a:r>
          </a:p>
          <a:p>
            <a:r>
              <a:t>6.3  CSS3布局属性</a:t>
            </a:r>
          </a:p>
          <a:p>
            <a:r>
              <a:t>6.4  CSS3盒子定位属性</a:t>
            </a:r>
          </a:p>
          <a:p/>
        </p:txBody>
      </p:sp>
      <p:sp>
        <p:nvSpPr>
          <p:cNvPr id="4" name="Rectangle 1"/>
          <p:cNvSpPr>
            <a:spLocks noGrp="1"/>
          </p:cNvSpPr>
          <p:nvPr/>
        </p:nvSpPr>
        <p:spPr>
          <a:xfrm>
            <a:off x="6066155" y="2538095"/>
            <a:ext cx="5260340" cy="35712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6.5  CSS3多列属性</a:t>
            </a:r>
          </a:p>
          <a:p>
            <a:r>
              <a:t>6.6  综合案例——馨美装修登录页面整体布局</a:t>
            </a:r>
          </a:p>
          <a:p/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>
                <a:sym typeface="+mn-ea"/>
              </a:rPr>
              <a:t>6.1  盒模型概述</a:t>
            </a:r>
            <a:endParaRPr>
              <a:sym typeface="+mn-ea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563" y="3246438"/>
            <a:ext cx="9380537" cy="2265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6.1.1  盒子的组成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6.1.2  盒子的大小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6.1.3  块级元素与行级元素的宽度和高度</a:t>
            </a: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6.1.1  盒子的组成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盒模型通过4个边界来描述，一个盒子从内到外依次分为4个区域：内容区域（Content Area）、内边距区域（Padding Area）、边框区域（Border Area）和外边距区域（Margin Area），如图6-1所示。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5110" y="3508375"/>
            <a:ext cx="3790950" cy="309308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6.1.2  盒子的大小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盒子的大小（总元素的大小）指的是盒子的宽度和高度，盒子的大小是这几个部分之和。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1．盒子的宽度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18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盒子的宽度=margin-left（左边距）+border-left（左边框）+padding-left（左填充）+width（内容宽度）+padding-right（右填充）+border-right（右边框）+margin-right（右边距）</a:t>
            </a:r>
            <a:endParaRPr lang="en-US" altLang="zh-CN" sz="18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2．盒子的高度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algn="l">
              <a:buSzPct val="85000"/>
              <a:buNone/>
            </a:pPr>
            <a:r>
              <a:rPr lang="en-US" altLang="zh-CN" sz="18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盒子的高度=margin-top（上边距）+border-top（上边框）+padding-top（上填充）+height（内容高度）+padding-bottom（下填充）+border-bottom（下边框）+margin-bottom（下边距）</a:t>
            </a:r>
            <a:endParaRPr lang="en-US" altLang="zh-CN" sz="18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6.1.3  块级元素与行级元素的宽度和高度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【例6-1】块级元素与行级元素宽度和高度的区别示例。本例文件6-1.html在浏览器中的显示效果如图6-2所示。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9620" y="3084195"/>
            <a:ext cx="5887720" cy="293560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6.2  盒模型的属性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880" y="3246755"/>
            <a:ext cx="43783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6.2.1  内边距属性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6.2.2  外边距属性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6.2.3  边框属性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6.2.4  圆角边框属性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  <p:sp>
        <p:nvSpPr>
          <p:cNvPr id="2" name="文本占位符 1"/>
          <p:cNvSpPr txBox="1"/>
          <p:nvPr/>
        </p:nvSpPr>
        <p:spPr>
          <a:xfrm>
            <a:off x="6717030" y="3246755"/>
            <a:ext cx="43783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6.2.5  盒模型的阴影属性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6.2.6  调整大小属性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6.2.1  内边距属性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CSS内边距属性有padding-top、padding-right、padding-bottom、padding-left、padding。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padding : auto | length | 百分比 | inherit</a:t>
            </a:r>
            <a:r>
              <a:rPr lang="en-US" altLang="zh-CN" sz="2800" kern="1200" dirty="0">
                <a:latin typeface="+mn-lt"/>
                <a:ea typeface="+mn-ea"/>
                <a:cs typeface="+mn-cs"/>
              </a:rPr>
              <a:t> 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本属性是简写方式，如果提供全部4个参数值，则将按上、右、下、左的顺序作用于4边。如果只提供1个，则将用于全部的4条边。如果提供2个，则第1个用于上、下，第2个用于左、右。如果提供3个，则第1个用于上，第2个用于左、右，第3个用于下。每个参数中间用空格分隔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6.2.1  内边距属性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【例6-2】内边距属性示例。本例文件6-2.html在浏览器中的显示效果如图6-4所示。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1490" y="3010535"/>
            <a:ext cx="3728720" cy="36195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6.2.2  外边距属性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margin属性用于设置元素4边的外边距，本属性是简写的复合属性。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margin: auto | length | 百分比 | inherit 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说明：如果提供全部4个参数值，将按上、右、下、左顺序作用于4边。如果只提供1个，则将用于全部4条边。如果提供2个，则第1个用于上、下，第2个用于左、右。如果提供3个，则第1个用于上，第2个用于左、右，第3个用于下。每个参数中间用空格分隔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6.2.2  外边距属性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【例6-3】外边距属性示例。本例文件6-3.html在浏览器中的显示效果如图6-5所示。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2615" y="2840355"/>
            <a:ext cx="3632200" cy="342328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6.2.3  边框属性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1．边框的样式属性border-style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边框的样式属性border-style是边框最重要的一个属性，如果没有样式，就没有边框，也就不存在边框的宽度和颜色了。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border-top-style || border-right-style || border-bottom-style || border-left-style || border-style : none | hidden | dotted | dashed | solid | double | groove | ridge | inset | outset | inherit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6.2.3  边框属性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2．边框的宽度属性border-width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边框的宽度属性分为border-top-width、border-right-width、border-bottom-width、border-left-width，可分别为某元素设置上边、右边、下边、左边的边框的宽度，也可以用border-width属性一次性设置所有边的边框的宽度。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border-top-width | border-right-width | border-bottom-width | border-left-width | border-width: medium | thin | thick | length | inherit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6.2.3  边框属性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3．边框的颜色属性（border-color）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边框的颜色属性分为border-top-color、border-right-color、border-bottom-color、border-left-color，可分别为某元素设置上边、右边、下边、左边的边框的颜色，也可以用border-color属性一次性设置所有边的边框的颜色。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border-top-color | border-right-color | border-bottom-color | border-left-color | border-color: color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6.2.3  边框属性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【例6-4】边框属性示例。本例文件6-4.html在浏览器中的显示效果如图6-6所示。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685" y="2157095"/>
            <a:ext cx="2693035" cy="43815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6.2.3  边框属性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4．边框的复合属性border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CSS提供了一次对4条边框设置边框宽度、样式、颜色属性。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border : border-width || border-style || border-color 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参数：border是一个复合属性，可以把3个子属性结合写在一起，各属性值之间用空格分隔，顺序不能错。其中border-width和border-color可以省略，默认值为medium和none。border-color的默认值将采用文本颜色。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6.2.3  边框属性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【例6-5】边框的复合属性示例。本例文件6-5.html在浏览器中的显示效果如图6-7所示。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2983865"/>
            <a:ext cx="3618230" cy="337947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6.2.4  圆角边框属性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3增加了圆角边框属性，圆角边框属性分为border-top-left-radius、border-top-right-radius、border-bottom-right-radius、border-bottom-left-radius，可分别为某元素设置左上、右上、右下、左下角的圆角属性，也可以用border-radius属性一次设置所有4个角的圆角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border-radius : none | length {1,4} [ / length {1,4} ]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6.2.4  圆角边框属性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【例6-6】圆角边框属性示例。本例文件6-6.html在浏览器中的显示效果如图6-8所示。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6670" y="3002915"/>
            <a:ext cx="4455795" cy="321246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6.2.5  盒模型的阴影属性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box-shadow属性用于设置盒模型的阴影，可以添加一个或多个阴影。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box-shadow: h-shadow v-shadow blur spread color inset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参数：属性值是用空格分隔的阴影列表，每个阴影由2～4个长度值、可选的颜色值及可选的inset关键词来规定。省略长度的值是0px。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6.2.5  盒模型的阴影属性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【例6-7】盒模型的阴影示例。本例文件6-7.html在浏览器中的显示效果如图6-9所示。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1295" y="2794635"/>
            <a:ext cx="3828415" cy="335026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6.2.6  调整大小属性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CSS3增加了resize属性，用于设置一个元素是否可由浏览者通过拖动的方式调整元素的大小。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resize: none | both | horizontal | vertical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参数：属性值默认为none，即浏览者无法调整元素的大小；both表示可调整元素的高度和宽度；horizontal表示可调整元素的宽度；vertical表示可调整元素的高度。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6.2.6  调整大小属性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【例6-8】resize属性示例。本例文件6-8.html在浏览器中的显示效果如图6-10所示，用鼠标拖动框右下角的拖动柄可以改变大小。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4155" y="2870200"/>
            <a:ext cx="3913505" cy="363601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6.3  CSS3布局属性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1833880" y="3246755"/>
            <a:ext cx="43783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6.3.1  元素的布局方式概述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6.3.2  CSS浮动属性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6.3.3  清除浮动属性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6.3.4  裁剪属性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  <p:sp>
        <p:nvSpPr>
          <p:cNvPr id="3" name="文本占位符 1"/>
          <p:cNvSpPr txBox="1"/>
          <p:nvPr/>
        </p:nvSpPr>
        <p:spPr>
          <a:xfrm>
            <a:off x="6717030" y="3246755"/>
            <a:ext cx="43783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6.3.5  元素显示方式属性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6.3.6  元素可见性属性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6.3.1  元素的布局方式概述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1．盒子的类型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iv、h1或p元素常常被称为块级元素。这意味着这些元素显示为一块内容，即“块盒”（或称块框）。与之相反，span、strong等元素称为“行内元素”，这是因为它们的内容显示在行中，即“行内盒”（或称行内框）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可以使用display属性改变生成的盒子的类型。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6.3.1  元素的布局方式概述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2．CSS定位机制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元素的布局方式也称CSS定位机制，CSS有三种基本的定位机制：普通文件流、浮动和定位。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（1）普通文件流（简称普通流）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（2）浮动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	（3）定位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6.3.1  元素的布局方式概述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3．布局属性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CSS布局属性（Layout Properties）用来控制元素显示位置、文件布局方式。按照功能可以分为如下三类。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控制浮动类属性，包括float、clear属性。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控制溢出类属性，overflow属性。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控制显示类属性，包括display，visibility属性。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6.3.2  CSS浮动属性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在CSS中，通过float属性实现元素的浮动。float属性定义元素在哪个方向浮动。当某元素设置为浮动后，不管该元素是行内元素还是块级元素，都会生成一个块级盒，按块级元素处理，即display属性被设置为block。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float : none | left |right | inherit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6.3.2  CSS浮动属性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【例6-9】float属性示例。本例文件6-9.html在浏览器中的显示效果如图6-14所示。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6715" y="2860040"/>
            <a:ext cx="3880485" cy="315976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6.3.3  清除浮动属性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元素浮动之后，周围的元素会重新排列，要想阻止行盒围绕浮动盒，就要清除该元素的float属性，叫作清除浮动，即对该盒应用clear属性。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clear : none | left |right | both | inherit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参数：none是默认值，允许两边都可以有浮动元素；left表示不允许左边有浮动元素；right表示不允许右边有浮动元素；both表示两侧都不允许有浮动元素；inherit规定应该从父元素继承clear属性的值。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6.3.3  清除浮动属性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【例6-10】clear属性示例。本例文件6-10.html在浏览器中的显示效果如图6-17（a）所示。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235" y="2884805"/>
            <a:ext cx="6807200" cy="34036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6.3.4  裁剪属性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clip属性用于设置元素的可视区域，看起来就像对元素进行了裁剪。区域外的部分是透明的。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clip : auto | rect ( top right bottom left )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参数：auto表示对元素不裁剪。如果要裁剪，则需要给定一个矩形，格式为rect ( top right bottom left )，依据上、右、下、左的顺序提供裁剪后的矩形右上角的纵坐标top、横坐标right和左下角的纵坐标bottom、横坐标left，或者左上角为(0,0)坐标计算的4个偏移数值。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6.3.4  裁剪属性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【例6-11】clip属性示例。本例文件6-11.html在浏览器中的显示效果如图6-18所示。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3460" y="2848610"/>
            <a:ext cx="4744085" cy="370395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6.3.5  元素显示方式属性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display属性用于设置元素的显示方式。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display : none | block | inline | inline-block | table | inherit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参数：none设置该元素被隐藏起来，且隐藏的元素不会占用任何空间。也就是说，该元素不但被隐藏了，而且该元素原本占用的空间也会从页面布局中消失。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6.3.5  元素显示方式属性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【例6-12】display属性示例。本例文件6-12.html在浏览器中的显示效果如图6-19所示。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1520" y="2762250"/>
            <a:ext cx="5901055" cy="342011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6.3.6  元素可见性属性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visibility属性用于设置一个元素是否可见。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visibility : hidden | visible | collapse | inherit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参数：hidden设置元素隐藏；visible设置元素可见；collapse主要用来隐藏表格的行或列，隐藏的行或列能够被其他内容使用，对于表格外的其他对象，其作用等同于hidden；inherit继承上一个父元素的可见性。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6.3.6  元素可见性属性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【例6-13】visibility属性示例。本例文件6-13.html在浏览器中的显示效果如图6-20所示。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0310" y="2877820"/>
            <a:ext cx="4491355" cy="364045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272905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6.4  CSS3盒子定位属性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73265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6.4.1  定位位置属性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6.4.2  定位方式属性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6.4.3  层叠顺序属性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spcBef>
                <a:spcPct val="0"/>
              </a:spcBef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6.4.1  定位位置属性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这4个CSS属性样式用于定位元素的位置。语法：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top:auto | length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right:auto | length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bottom:auto | length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left:auto | length</a:t>
            </a: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参数：auto无特殊定位，根据HTML定位规则在文件流中分配。length是由数字和单位标识符组成的长度值或百分数。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6.4.2  定位方式属性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position属性用于设置元素的定位类型。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position: static | absolute | relative | sticky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参数：static是默认值，没有定位，元素出现在正常的文件流中（忽略top、bottom、left、right或z-index属性的声明）。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6.4.2  定位方式属性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1．静态定位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静态定位（position:static）盒子按照标准流（包括浮动方式）进行布局，即该元素出现在文件的常规位置，不会重新定位。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【例6-14】静态定位示例。本例文件6-14.html在浏览器中的显示效果如图6-21所示。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8695" y="4281170"/>
            <a:ext cx="3253105" cy="223583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6.4.2  定位方式属性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2．相对定位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使用相对定位的盒子会相对于自身原本的位置，通过偏移指定的距离，到达新的位置。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【例6-15】相对定位示例。本例文件6-15.html在浏览器中的显示效果如图6-22所示。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4075430"/>
            <a:ext cx="3298825" cy="233426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6.4.2  定位方式属性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3．绝对定位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绝对定位的盒子从标准流中脱离，对其后的兄弟盒子的定位没有影响，其他的盒子就好像这个盒子不存在一样。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【例6-16】绝对定位示例,如图6-23所示。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6875" y="4064635"/>
            <a:ext cx="6089015" cy="25654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6.4.2  定位方式属性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4．固定定位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固定定位其实是绝对定位的子类别。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【例6-17】固定定位示例,如图6-24所示。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450" y="3547745"/>
            <a:ext cx="6970395" cy="234823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6.4.2  定位方式属性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5．黏性定位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黏性定位的元素依赖于用户的滚动，在position:relative与position:fixed定位之间切换。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【例6-18】sticky定位示例,如图6-25所示。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800" y="4132580"/>
            <a:ext cx="5334000" cy="248602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6.4.3  层叠顺序属性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z-index属性设置对象的层叠顺序。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z-index : auto | number</a:t>
            </a:r>
            <a:r>
              <a:rPr lang="en-US" altLang="zh-CN" sz="2800" kern="1200" dirty="0">
                <a:latin typeface="+mn-lt"/>
                <a:ea typeface="+mn-ea"/>
                <a:cs typeface="+mn-cs"/>
              </a:rPr>
              <a:t> 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参数：默认值是auto，即层叠顺序与其父元素相同；number为无单位的整数值，可为负数，用于设置目标对象的定位程序，数值越大，所在的层级越高，覆盖在其他层级之上，该属性仅在position:absolute时有效。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6.4.3  层叠顺序属性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【例6-19】z-index属性示例。本例文件6-19.html在浏览器中的显示效果如图6-26所示。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3050" y="3028315"/>
            <a:ext cx="3295650" cy="325691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6.5  CSS3多列属性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72249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6.5.1  列数属性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6.5.2  列宽属性column-width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6.5.3  列宽属性column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6.5.4  列与列的间隔属性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6.5.5  是否横跨所有列属性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6398895" y="3308985"/>
            <a:ext cx="472249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6.5.6  列与列的间隔样式属性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6.5.7  列与列的间隔颜色属性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6.5.8  列与列的宽度属性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6.5.9  列与列的间隔所有属性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6.5.1  列数属性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column-count属性用于设置元素被分割的列数。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column-count: &lt;integer&gt; | auto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参数：默认值为auto，列数根据column-width自动分配宽度。integer用整数值来定义列数，不允许为负值。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6.5.2  列宽属性column-width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column-width属性用于设置元素每列的宽度。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column-width: &lt;length&gt; | auto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参数：默认值是auto，表示根据column-count分配宽度。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6.5.3  列宽属性column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column属性设置元素的列数和每列的宽度，是复合属性。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columns: [ column-width ] | [ column-count ]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参数：与每个独立属性的参数相同。column-width设置元素每列的宽度。column-count设置元素的列数。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6.5.4  列与列的间隔属性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column-gap属性用于设置元素的列与列的间隔。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column-gap: &lt;length&gt; | normal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参数：length用长度值定义列与列的间隔，不允许为负值；normal值与font-size值相同，假设该对象的font-size为16px，则normal值为16px。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6.5.5  是否横跨所有列属性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column-span属性用于设置元素是否横跨所有列。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column-span: none | all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参数：none表示不跨列；all表示横跨所有列。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6.5.6  列与列的间隔样式属性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olumn-rule-style属性用于设置元素的列与列间隔的样式。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column-rule-style: none | hidden | dotted | dashed | solid | double | groove | ridge | inset | outset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r>
              <a:rPr lang="en-US" altLang="zh-CN" sz="2400" kern="1200" dirty="0">
                <a:latin typeface="+mn-lt"/>
                <a:ea typeface="+mn-ea"/>
                <a:cs typeface="+mn-cs"/>
              </a:rPr>
              <a:t>参数：none表示无轮廓，column-rule-color与column-rule-width将被忽略；hidden表示隐藏边框；dotted表示点状轮廓；dashed表示虚线轮廓；solid表示实线轮廓；double表示双线轮廓，两条单线与其间隔的和等于指定的column-rule-width值；groove表示3D凹槽轮廓；ridge表示3D凸槽轮廓；inset表示3D凹边轮廓；outset表示3D凸边轮廓。</a:t>
            </a:r>
            <a:endParaRPr lang="en-US" altLang="zh-CN" sz="24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6.5.7  列与列的间隔颜色属性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column-rule-color属性用于设置列与列的间隔颜色。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column-rule-color: &lt;color&gt;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默认值：采用文本颜色。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说明：如果column-rule-width值为0px或column-rule-style值为none，则本属性被忽略。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6.5.8  列与列的宽度属性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column-rule-width属性用于设置元素的列与列的宽度。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column-rule-width: &lt;length&gt; | thin | medium | thick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默认值：&lt;length&gt;表示用长度值来定义边框的厚度，不允许为负值；thin定义比默认厚度细的边框；medium表示默认厚度的边框；thick定义比默认厚度粗的边框。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6.5.9  列与列的间隔所有属性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column-rule属性用于设置元素的列与列的间隔宽度、样式、颜色，是复合属性。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column-rule: [ column-rule-width ] | [ column-rule-style ] | [ column-rule-color ]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参数：与每个独立属性的参数相同。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column-rule-width设置元素的列与列的间隔宽度。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column-rule-style设置元素的列与列的间隔样式。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column-rule-color设置元素的列与列的间隔颜色。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6.5.9  列与列的间隔所有属性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【例6-20】多列属性示例。本例文件6-20.html在浏览器中的显示效果如图6-27所示。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9535" y="2177415"/>
            <a:ext cx="3429635" cy="427418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6.6  综合案例——馨美登录页面整体布局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6.6  综合案例——馨美装修登录页面整体布局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【例6-21】馨美装修登录页面整体布局，本例文件6-21.html在未使用盒子浮动前的布局效果如图6-28所示，使用盒子浮动后的布局效果如图6-29所示。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455" y="3531870"/>
            <a:ext cx="9373870" cy="289750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习题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6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1．使用相对定位的方法制作如图6-29所示的页面布局。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2．使用盒模型技术制作如图6-30所示的商城结算页面局部内容。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3．使用盒模型技术制作如图6-31所示的页面。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COMMONDATA" val="eyJoZGlkIjoiYzZjOTM1MTZkYjlhMDFiZTJlZWZhNTQ1YWMzMjI1ND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镶边</Template>
  <TotalTime>0</TotalTime>
  <Words>8502</Words>
  <Application>WPS 演示</Application>
  <PresentationFormat>宽屏</PresentationFormat>
  <Paragraphs>381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62</vt:i4>
      </vt:variant>
    </vt:vector>
  </HeadingPairs>
  <TitlesOfParts>
    <vt:vector size="75" baseType="lpstr">
      <vt:lpstr>Arial</vt:lpstr>
      <vt:lpstr>宋体</vt:lpstr>
      <vt:lpstr>Wingdings</vt:lpstr>
      <vt:lpstr>Calibri</vt:lpstr>
      <vt:lpstr>Franklin Gothic Book</vt:lpstr>
      <vt:lpstr>幼圆</vt:lpstr>
      <vt:lpstr>Wingdings 2</vt:lpstr>
      <vt:lpstr>微软雅黑</vt:lpstr>
      <vt:lpstr>Times New Roman</vt:lpstr>
      <vt:lpstr>Perpetua</vt:lpstr>
      <vt:lpstr>Arial Unicode MS</vt:lpstr>
      <vt:lpstr>平衡</vt:lpstr>
      <vt:lpstr>1_平衡</vt:lpstr>
      <vt:lpstr>PowerPoint 演示文稿</vt:lpstr>
      <vt:lpstr>第6章  CSS3盒模型</vt:lpstr>
      <vt:lpstr>目录</vt:lpstr>
      <vt:lpstr>6.1  盒模型概述</vt:lpstr>
      <vt:lpstr>6.1.1  盒子的组成</vt:lpstr>
      <vt:lpstr>6.1.2  盒子的大小</vt:lpstr>
      <vt:lpstr>6.1.3  块级元素与行级元素的宽度和高度</vt:lpstr>
      <vt:lpstr>6.2  盒模型的属性</vt:lpstr>
      <vt:lpstr>6.2.1  内边距属性</vt:lpstr>
      <vt:lpstr>6.2.1  内边距属性</vt:lpstr>
      <vt:lpstr>6.2.2  外边距属性</vt:lpstr>
      <vt:lpstr>6.2.2  外边距属性</vt:lpstr>
      <vt:lpstr>6.2.3  边框属性</vt:lpstr>
      <vt:lpstr>6.2.3  边框属性</vt:lpstr>
      <vt:lpstr>6.2.3  边框属性</vt:lpstr>
      <vt:lpstr>6.2.3  边框属性</vt:lpstr>
      <vt:lpstr>6.2.3  边框属性</vt:lpstr>
      <vt:lpstr>6.2.3  边框属性</vt:lpstr>
      <vt:lpstr>6.2.4  圆角边框属性</vt:lpstr>
      <vt:lpstr>6.2.4  圆角边框属性</vt:lpstr>
      <vt:lpstr>6.2.5  盒模型的阴影属性</vt:lpstr>
      <vt:lpstr>6.2.5  盒模型的阴影属性</vt:lpstr>
      <vt:lpstr>6.2.6  调整大小属性</vt:lpstr>
      <vt:lpstr>6.2.6  调整大小属性</vt:lpstr>
      <vt:lpstr>6.3  CSS3布局属性</vt:lpstr>
      <vt:lpstr>6.3.1  元素的布局方式概述</vt:lpstr>
      <vt:lpstr>6.3.1  元素的布局方式概述</vt:lpstr>
      <vt:lpstr>6.3.1  元素的布局方式概述</vt:lpstr>
      <vt:lpstr>6.3.2  CSS浮动属性</vt:lpstr>
      <vt:lpstr>6.3.2  CSS浮动属性</vt:lpstr>
      <vt:lpstr>6.3.3  清除浮动属性</vt:lpstr>
      <vt:lpstr>6.3.3  清除浮动属性</vt:lpstr>
      <vt:lpstr>6.3.4  裁剪属性</vt:lpstr>
      <vt:lpstr>6.3.4  裁剪属性</vt:lpstr>
      <vt:lpstr>6.3.5  元素显示方式属性</vt:lpstr>
      <vt:lpstr>6.3.5  元素显示方式属性</vt:lpstr>
      <vt:lpstr>6.3.6  元素可见性属性</vt:lpstr>
      <vt:lpstr>6.3.6  元素可见性属性</vt:lpstr>
      <vt:lpstr>6.4  CSS3盒子定位属性</vt:lpstr>
      <vt:lpstr>6.4.1  定位位置属性</vt:lpstr>
      <vt:lpstr>6.4.2  定位方式属性</vt:lpstr>
      <vt:lpstr>6.4.2  定位方式属性</vt:lpstr>
      <vt:lpstr>6.4.2  定位方式属性</vt:lpstr>
      <vt:lpstr>6.4.2  定位方式属性</vt:lpstr>
      <vt:lpstr>6.4.2  定位方式属性</vt:lpstr>
      <vt:lpstr>6.4.2  定位方式属性</vt:lpstr>
      <vt:lpstr>6.4.3  层叠顺序属性</vt:lpstr>
      <vt:lpstr>6.4.3  层叠顺序属性</vt:lpstr>
      <vt:lpstr>6.5  CSS3多列属性</vt:lpstr>
      <vt:lpstr>6.5.1  列数属性</vt:lpstr>
      <vt:lpstr>6.5.2  列宽属性column-width</vt:lpstr>
      <vt:lpstr>6.5.3  列宽属性column</vt:lpstr>
      <vt:lpstr>6.5.4  列与列的间隔属性</vt:lpstr>
      <vt:lpstr>6.5.5  是否横跨所有列属性</vt:lpstr>
      <vt:lpstr>6.5.6  列与列的间隔样式属性</vt:lpstr>
      <vt:lpstr>6.5.7  列与列的间隔颜色属性</vt:lpstr>
      <vt:lpstr>6.5.8  列与列的宽度属性</vt:lpstr>
      <vt:lpstr>6.5.9  列与列的间隔所有属性</vt:lpstr>
      <vt:lpstr>6.5.9  列与列的间隔所有属性</vt:lpstr>
      <vt:lpstr>6.6  综合案例——馨美登录页面整体布局</vt:lpstr>
      <vt:lpstr>6.6  综合案例——馨美装修登录页面整体布局</vt:lpstr>
      <vt:lpstr>习题6</vt:lpstr>
    </vt:vector>
  </TitlesOfParts>
  <Company>Neusoft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Lixin Ma</dc:creator>
  <cp:lastModifiedBy>回归法师</cp:lastModifiedBy>
  <cp:revision>1085</cp:revision>
  <dcterms:created xsi:type="dcterms:W3CDTF">2013-04-09T00:17:00Z</dcterms:created>
  <dcterms:modified xsi:type="dcterms:W3CDTF">2022-09-30T00:56:57Z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55DB0B4F850444D6A96A544BF46F3E08</vt:lpwstr>
  </property>
  <property fmtid="{D5CDD505-2E9C-101B-9397-08002B2CF9AE}" pid="3" name="KSOProductBuildVer">
    <vt:lpwstr>2052-11.1.0.12358</vt:lpwstr>
  </property>
</Properties>
</file>