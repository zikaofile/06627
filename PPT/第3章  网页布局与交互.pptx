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660" r:id="rId4"/>
    <p:sldId id="603" r:id="rId5"/>
    <p:sldId id="566" r:id="rId6"/>
    <p:sldId id="568" r:id="rId7"/>
    <p:sldId id="580" r:id="rId8"/>
    <p:sldId id="714" r:id="rId9"/>
    <p:sldId id="715" r:id="rId10"/>
    <p:sldId id="569" r:id="rId11"/>
    <p:sldId id="666" r:id="rId12"/>
    <p:sldId id="667" r:id="rId14"/>
    <p:sldId id="570" r:id="rId15"/>
    <p:sldId id="668" r:id="rId16"/>
    <p:sldId id="748" r:id="rId17"/>
    <p:sldId id="749" r:id="rId18"/>
    <p:sldId id="571" r:id="rId19"/>
    <p:sldId id="672" r:id="rId20"/>
    <p:sldId id="673" r:id="rId21"/>
    <p:sldId id="750" r:id="rId22"/>
    <p:sldId id="751" r:id="rId23"/>
    <p:sldId id="752" r:id="rId24"/>
    <p:sldId id="753" r:id="rId25"/>
    <p:sldId id="754" r:id="rId26"/>
    <p:sldId id="755" r:id="rId27"/>
    <p:sldId id="756" r:id="rId28"/>
    <p:sldId id="757" r:id="rId29"/>
    <p:sldId id="572" r:id="rId30"/>
    <p:sldId id="676" r:id="rId31"/>
    <p:sldId id="717" r:id="rId32"/>
    <p:sldId id="707" r:id="rId33"/>
    <p:sldId id="719" r:id="rId34"/>
    <p:sldId id="720" r:id="rId35"/>
    <p:sldId id="758" r:id="rId36"/>
    <p:sldId id="721" r:id="rId37"/>
    <p:sldId id="759" r:id="rId38"/>
    <p:sldId id="760" r:id="rId39"/>
    <p:sldId id="722" r:id="rId40"/>
    <p:sldId id="723" r:id="rId41"/>
    <p:sldId id="724" r:id="rId42"/>
    <p:sldId id="708" r:id="rId43"/>
    <p:sldId id="725" r:id="rId44"/>
    <p:sldId id="726" r:id="rId45"/>
    <p:sldId id="761" r:id="rId46"/>
    <p:sldId id="727" r:id="rId47"/>
    <p:sldId id="762" r:id="rId48"/>
    <p:sldId id="763" r:id="rId49"/>
    <p:sldId id="764" r:id="rId50"/>
    <p:sldId id="765" r:id="rId51"/>
    <p:sldId id="766" r:id="rId52"/>
    <p:sldId id="767" r:id="rId53"/>
    <p:sldId id="768" r:id="rId54"/>
    <p:sldId id="695" r:id="rId55"/>
  </p:sldIdLst>
  <p:sldSz cx="12192000" cy="6858000"/>
  <p:notesSz cx="6858000" cy="9144000"/>
  <p:custDataLst>
    <p:tags r:id="rId59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第3章  网页布局与交互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260340" cy="3571240"/>
          </a:xfrm>
        </p:spPr>
        <p:txBody>
          <a:bodyPr/>
          <a:p>
            <a:r>
              <a:t>3.1  iframe框架元素</a:t>
            </a:r>
          </a:p>
          <a:p>
            <a:r>
              <a:t>3.2  分区元素</a:t>
            </a:r>
          </a:p>
          <a:p>
            <a:r>
              <a:t>3.3  范围元素</a:t>
            </a:r>
          </a:p>
          <a:p>
            <a:r>
              <a:t>3.4  HTML5文档结构元素</a:t>
            </a:r>
          </a:p>
          <a:p>
            <a:r>
              <a:t>3.5  HTML5页面交互元素</a:t>
            </a:r>
          </a:p>
          <a:p/>
        </p:txBody>
      </p:sp>
      <p:sp>
        <p:nvSpPr>
          <p:cNvPr id="4" name="Rectangle 1"/>
          <p:cNvSpPr>
            <a:spLocks noGrp="1"/>
          </p:cNvSpPr>
          <p:nvPr/>
        </p:nvSpPr>
        <p:spPr>
          <a:xfrm>
            <a:off x="6066155" y="2538095"/>
            <a:ext cx="5260340" cy="35712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3.6  表格元素</a:t>
            </a:r>
          </a:p>
          <a:p>
            <a:r>
              <a:t>3.7  表单</a:t>
            </a:r>
          </a:p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3.1  iframe框架元素</a:t>
            </a:r>
            <a:endParaRPr>
              <a:sym typeface="+mn-ea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3.1.1  基本格法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3.1.2  使用iframe框架元素布局页面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3.1.3  使用iframe框架元素实现页面间的跳转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3.1.1  基本格法</a:t>
            </a:r>
            <a:endParaRPr lang="zh-CN" altLang="en-US" b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iframe元素能够创建包含另外一个文档的行内框架，有效地将其他HTML页面嵌入到当前页中。语法格式为：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&lt;iframe src="path" name="mainFrame" &gt;&lt;/iframe&gt;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其中，path表示引用页面地址，mainFrame表示框架标识名。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可以设置src的属性值为线上页面的地址，例如，http://www.baidu.com，这样就可以在当前页面中可以打开一个线上的网页。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3.1.2  使用iframe框架元素布局页面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【例3-1】使用iframe框架元素布局页面，本例文件3-1.html在浏览器中的显示效果如图3-1所示。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800" y="2838450"/>
            <a:ext cx="4471035" cy="366014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3.1.3  使用iframe框架元素实现页面间的跳转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【例3-2】使用iframe框架元素实现页面间的跳转。本例文件3-2.html在浏览器中的显示效果如图3-2所示。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785" y="3074035"/>
            <a:ext cx="9537065" cy="31464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3.2  分区元素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3.2.1  基本语法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3.2.2  使用div元素布局页面内容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3.2.1  基本语法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分区元素div常用于页面布局时对区块的划分，它相当于一个大“容器”，div可定义文件中的分区。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通常使用div元素来组合块级元素，这样即可使用样式对它们进行格式化。由于div元素没有明显的外观效果，因此需要为其添加CSS样式属性，这样才能看到区块的外观效果。&lt;div&gt;元素格式：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latin typeface="+mn-lt"/>
                <a:ea typeface="+mn-ea"/>
                <a:cs typeface="+mn-cs"/>
              </a:rPr>
              <a:t>	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&lt;div id="控件id" class="类名"&gt; HTML元素&lt;/div&gt;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3.2.2  使用div元素布局页面内容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页面中如果有多个div元素把文档分成多个部分。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【例3-3】使用div元素布局页面内容。本例文件3-3.html在浏览器中的显示效果如图3-3所示。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4995" y="2894330"/>
            <a:ext cx="3466465" cy="352933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3.3  范围元素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3.3.1  基本语法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3.3.2  span与div的异同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3.3.3  案例——布局馨美装修技术支持页面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3.3.1  基本语法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span元素用来定义文档中一行的一部分，是行级元素。行级元素没有固定的宽度，也没有固定的格式表现，当对它应用样式时，才会产生视觉上的变化。范围元素span用于标识行内的某个范围，以实现行内某个部分的特殊设置以区分其他内容。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&lt;span&gt;内容&lt;/span&gt;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3.3.2  span与div的异同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1．区域内是否换行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span元素仅是个行内元素，不会换行，而div元素是一个块级元素，它包围的元素会自动换行。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2．标签相互包含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iv与span标签区域可以同时在网页上使用，由于span元素本身没有任何属性，没有结构上的意义，一般在使用上建议用div标签包含span标签；但span标签最好不包含div标签，否则会造成span标签的区域不完整，形成断行的现象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3.3.3  案例——布局馨美装修技术支持页面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【例3-4】使用分区元素和范围元素布局网页内容。本例文件3-4.html在浏览器中的显示效果如图3-4所示。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2375" y="2865120"/>
            <a:ext cx="4666615" cy="35623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272905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3.4  HTML5文档结构元素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3.4.1  section元素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3.4.2  nav元素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3.4.3  header元素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3.4.4  footer元素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  <p:sp>
        <p:nvSpPr>
          <p:cNvPr id="2" name="文本占位符 1"/>
          <p:cNvSpPr txBox="1"/>
          <p:nvPr/>
        </p:nvSpPr>
        <p:spPr>
          <a:xfrm>
            <a:off x="6417310" y="3279775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3.4.5  article元素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3.4.6  aside元素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3.4.7  分组元素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3.4.8  案例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3.4.1  section元素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section元素用来定义文档中的节（section、区段），比如章节、页眉、页脚或文档中的其他部分。例如，下面的代码定义了文档中的区段，解释了CSS的含义。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&lt;section&gt;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&lt;h1&gt; CSS&lt;/h1&gt;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&lt;p&gt;是Cascading Style Sheets（层叠样式表单）的简称&lt;/p&gt;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&lt;/section&gt;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3.4.2  nav元素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nav元素用来定义导航链接的部分。例如，下面的代码定义了导航条中常见的首页、上一页、下一页和尾页链接。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&lt;nav&gt;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&lt;a href="index.html"&gt;首页&lt;/a&gt;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&lt;a href="prev.html"&gt;上一页&lt;/a&gt;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&lt;a href="next.html"&gt;下一页&lt;/a&gt;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&lt;a href="end.html"&gt;尾页&lt;/a&gt;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&lt;/nav&gt;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3.4.3  header元素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header元素用来定义文档的页眉。例如，下面的代码定义了文档的欢迎信息。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&lt;header&gt;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&lt;h1&gt;欢迎光临馨美装修&lt;/h1&gt;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&lt;p&gt;公司的宗旨是让每个人都积极创新，为做出美好的事情而努力。&lt;/p&gt;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&lt;/header&gt;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3.4.4  footer元素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footer元素用来定义section或document的页脚，通常该元素包含网站的版权、创作者的姓名、文档的创作日期及联系信息。例如，下面的代码定义了网站的版权信息。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&lt;footer&gt;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&lt;p&gt;Copyright &amp;copy; 2022 馨美装修 版权所有&lt;/p&gt;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&lt;/footer&gt;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3.4.5  article元素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article元素用来定义独立的内容，该元素定义的内容可独立于页面中的其他内容使用。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【例3-5】使用article元素定义新闻内容，本例文件3-5.html在浏览器中的显示效果如图3-6所示。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340" y="4039235"/>
            <a:ext cx="3195320" cy="2470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3.4.5  article元素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【例3-6】使用嵌套的article元素定义新闻内容及评论，本例文件3-6.html在浏览器中的显示效果如图3-7所示。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2955" y="2855595"/>
            <a:ext cx="2836545" cy="37687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3.4.6  aside元素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aside元素用来表示当前页面或新闻的附属信息部分。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【例3-7】使用aside元素定义了网页的侧边栏信息，本例文件3-7.html在浏览器中的显示效果如图3-8所示。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3423285"/>
            <a:ext cx="3836670" cy="298894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3.4.7  分组元素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1．figure元素和figcaption元素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figure元素用于定义独立的流内容。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【例3-8】使用figure元素和figcaption元素分组页面内容，本例文件3-8.html在浏览器中的显示效果如图3-9所示。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1430" y="3995420"/>
            <a:ext cx="2619375" cy="27527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3.4.7  分组元素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2．hgroup元素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hgroup元素用于将多个标题（主标题和副标题或者子标题）组成一个标题组，通常它与h1~h6元素组合使用。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【例3-9】使用hgroup元素分组页面内容，本例文件3-9.html在浏览器中的显示效果如图3-10所示。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0" y="4190365"/>
            <a:ext cx="3309620" cy="22307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3.4.8  案例——制作馨美装修人才招聘页面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【例3-10】使用文档结构元素构建网页布局，制作馨美装修人才招聘页面，本例文件3-10.html在浏览器中的显示效果如图3-11所示。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6480" y="2765425"/>
            <a:ext cx="2633980" cy="39116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3.5  HTML5页面交互元素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288" y="3289300"/>
            <a:ext cx="10363200" cy="23256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3.5.1  details元素和summary元素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3.5.2  progress元素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3.5.1  details元素和summary元素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details元素用于描述文档或文档某个部分的细节。summary元素经常与details元素配合使用。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【例3-11】使用details元素和summary元素描述文档。标题折叠的效果如图3-12所示；标题展开的效果如图3-13所示。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630" y="4239895"/>
            <a:ext cx="7800340" cy="19685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3.5.2  progress元素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progress元素用于表示一个任务的完成进度。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【例3-12】使用progress元素显示工程开发进度，本例文件3-12.html在浏览器中的显示效果如图3-14所示。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7355" y="3515995"/>
            <a:ext cx="4072255" cy="238188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3.6  表格元素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80250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3.6.1  表格的组成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3.6.2  基本表格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3.6.3  不规范表格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3.6.4  数据分组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文本占位符 1"/>
          <p:cNvSpPr txBox="1"/>
          <p:nvPr/>
        </p:nvSpPr>
        <p:spPr>
          <a:xfrm>
            <a:off x="6407150" y="3309620"/>
            <a:ext cx="480250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3.6.5  调整列的格式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3.6.6  案例——使用表格布局馨美装修案例页面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3.6.1  表格的组成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表格是由行和列组成的二维表，而每行又由一个或多个单元格组成，用于放置数据或其他内容。表格中的内容按照相应的行或列进行分类和显示如图3-15所示。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7510" y="3545840"/>
            <a:ext cx="3956685" cy="24923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3.6.2  基本表格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定义表格元素的格式为：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&lt;table border="n" width="x|x%" height="y|y%" cellspacing="i" cellpadding="j"&gt;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&lt;caption align="left|right|top|bottom valign=top|bottom&gt;标题&lt;/caption&gt;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&lt;tr&gt; &lt;th&gt;表头1&lt;/th&gt; &lt;th&gt;表头2&lt;/th&gt; &lt;th&gt;…&lt;/th&gt; &lt;th&gt;表头n&lt;/th&gt;&lt;/tr&gt;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&lt;tr&gt; &lt;td&gt;表项1&lt;/td&gt; &lt;td&gt;表项2&lt;/td&gt; &lt;td&gt;…&lt;/td&gt; &lt;td&gt;表项n&lt;/td&gt;&lt;/tr&gt;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…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&lt;tr&gt; &lt;td&gt;表项1&lt;/td&gt; &lt;td&gt;表项2&lt;/td&gt; &lt;td&gt;…&lt;/td&gt; &lt;td&gt;表项n&lt;/td&gt;&lt;/tr&gt;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&lt;/table&gt;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3.6.2  基本表格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【例3-13】制作馨美装修员工录表格，本例文件3-13.html在浏览器中的显示效果如图3-16所示。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090" y="2827655"/>
            <a:ext cx="3463290" cy="351663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3.6.3  不规范表格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1．跨行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跨行是指单元格在垂直方向上合并，语法如下：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&lt;table&gt;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&lt;tr&gt;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   &lt;td rowspan="所跨的行数"&gt;单元格内容&lt;/td&gt;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&lt;/tr&gt;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&lt;/table&gt;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其中，rowspan指明该单元格应有多少行的跨度，在th和td标签中使用。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3.6.3  不规范表格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2．跨列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跨列是指单元格在水平方向上合并，语法如下：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&lt;table&gt;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&lt;tr&gt;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   &lt;td colspan="所跨的行数"&gt;单元格内容&lt;/td&gt;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&lt;/tr&gt;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&lt;/table&gt;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其中，colspan指明该单元格应有多少列的跨度，在th和td标签中使用。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3.6.3  不规范表格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3．跨行、跨列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【例3-14】制作一个展示公司业绩的跨行跨列表格，本例文件3-14.html在浏览器中显示的效果如图3-17所示。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0" y="3493135"/>
            <a:ext cx="4003040" cy="26879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3.6.4  数据分组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表格数据的分组元素包括thead、tbody和tfooter，主要用于对报表数据进行逻辑分组。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【例3-15】制作产品销量季度数据报表，本例文件3-15.html的浏览效果如图3-18所示。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7255" y="3475355"/>
            <a:ext cx="3723640" cy="29546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3.6.5  调整列的格式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1）&lt;colgroup&gt;标签：对表格中的列进行组合。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2）&lt;col&gt;标签：对表格中一个或多个列定义属性值。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【例3-16】调整列格式示例。本例文件3-16.html在浏览器中的显示效果如图3-19所示。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0" y="3790315"/>
            <a:ext cx="4384675" cy="258953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>
          <a:xfrm>
            <a:off x="1219200" y="274955"/>
            <a:ext cx="10552430" cy="1143000"/>
          </a:xfrm>
        </p:spPr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3.6.6  案例——使用表格布局馨美装修案例页面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【例3-17】使用表格布局馨美装修案例页面，本例文件3-17.html在浏览器中的显示效果如图3-20所示。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2790" y="2792730"/>
            <a:ext cx="5978525" cy="388493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3.7  表单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1284605" y="3289300"/>
            <a:ext cx="480250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3.7.1  表单元素form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3.7.2  输入元素input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3.7.3  标签元素label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3.7.4  选择栏元素select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文本占位符 1"/>
          <p:cNvSpPr txBox="1"/>
          <p:nvPr/>
        </p:nvSpPr>
        <p:spPr>
          <a:xfrm>
            <a:off x="6557010" y="3289300"/>
            <a:ext cx="480250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3.7.5  多行文本元素textarea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3.7.6  表单分组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3.7.7  案例——制作馨美装修联系我们表单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3.7.1  表单元素form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网页上具有可输入表项及项目选择等控制所组成的栏目称为表单。表单元素是块级元素，其前后会产生折行。&lt;form&gt;标签用于创建供用户输入的HTML表单，&lt;form&gt;标签是成对出现的。在一个HTML页面中允许有多个表单，表单元素的基本语法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&lt;form name="表单名" action="URL" method="get|post" …&gt;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&lt;/form&gt;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3.7.2  输入元素input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&lt;input&gt;元素用来定义用户输入数据的输入字段，根据不同的type属性，输入字段可以是文本字段、密码字段、复选框、单选按钮、按钮、隐藏域、电子邮件、日期时间、数值、范围、图像、文件等。&lt;input&gt;元素的基本语法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&lt;input type="表项类型" name="表项名" value="默认值" size="x" maxlength="y" /&gt;</a:t>
            </a:r>
            <a:endParaRPr lang="en-US" altLang="zh-CN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3.7.2  输入元素input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【例3-18】制作不同类型的input元素示例。本例文件3-18.html在浏览器中的显示效果如图3-21所示。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2895" y="2781935"/>
            <a:ext cx="3965575" cy="346138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3.7.3  标签元素label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label元素为表单中的其他控件元素添加说明文字。label元素的格式为：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&lt;label for="id"&gt;说明文字&lt;/label&gt;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【例3-19】label元素的示例</a:t>
            </a:r>
            <a:r>
              <a:rPr lang="zh-CN" altLang="en-US" sz="2800" kern="1200" dirty="0">
                <a:latin typeface="+mn-lt"/>
                <a:ea typeface="+mn-ea"/>
                <a:cs typeface="+mn-cs"/>
              </a:rPr>
              <a:t>，</a:t>
            </a:r>
            <a:r>
              <a:rPr lang="en-US" altLang="zh-CN" sz="2800" kern="1200" dirty="0">
                <a:latin typeface="+mn-lt"/>
                <a:ea typeface="+mn-ea"/>
                <a:cs typeface="+mn-cs"/>
              </a:rPr>
              <a:t>如图3-22所示。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6720" y="4098290"/>
            <a:ext cx="4049395" cy="192151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3.7.4  选择栏元素select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select元素创建下拉菜单或列表框，实现单选或多选菜单。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1．select元素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&lt;select size="x" name="控制操作名" multiple= "multiple"&gt;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&lt;optgroup&gt;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   &lt;option …&gt; … &lt;/option&gt;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   &lt;option …&gt; … &lt;/option&gt;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     …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&lt;/optgroup&gt;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457200" lvl="1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&lt;/select&gt;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3.7.4  选择栏元素select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2．option元素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option元素定义下拉列表中的一个选项。格式为：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	&lt;option value="可选择的内容" selected ="selected"&gt; … &lt;/option&gt;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【例3-20】制作员工信息调查的选择栏示例。本例文件3-20.html在浏览器中的显示效果如图3-23所示。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0" y="3852545"/>
            <a:ext cx="2995295" cy="276098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3.7.5  多行文本元素textarea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在意见反馈栏中往往需要浏览者发表意见和建议，且提供的输入区域一般较大，可以输入较多的文字。textarea元素用于定义多行文本输入控件，&lt;textarea&gt;标签是成对标签，开始标签	&lt;textarea&gt;和结束标签&lt;/textarea&gt;之间的内容就是显示在文本输入框中的初始信息。textarea元素的格式为：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&lt;textarea name="文本域名" rows="行数" cols="列数"&gt;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初始文本内容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&lt;/textarea&gt;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3.7.5  多行文本元素textarea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【例3-21】多行文本元素示例。本例文件3-21.html在浏览器中的显示效果如图3-24所示。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895" y="2943860"/>
            <a:ext cx="4067810" cy="356806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3.7.6  表单分组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大型表单容易在视觉上产生混淆，通过对表单分组可以将表单上的元素在形式上进行组合，达到一目了然的效果。常见的分组元素有fieldset和legend。格式为：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&lt;form&gt;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&lt;fieldset&gt;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   &lt;legend&gt;分组标题&lt;/legend&gt;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    表单元素…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&lt;/fieldset&gt;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...  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&lt;/form&gt;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3.7.6  表单分组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【例3-22】表单分组示例，本例文件3-22.html在浏览器中显示的效果如图3-25所示。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2845" y="2929890"/>
            <a:ext cx="4335145" cy="30943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3.7.7  案例——制作馨美装修联系我们表单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【例3-23】使用表格布局制作馨美装修联系我们表单，如图3-27所示。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6790" y="2915920"/>
            <a:ext cx="7866380" cy="342138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3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1．使用跨行跨列的表格制作公告栏分类信息，如图3-28所示。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2．使用表格技术制作如图3-29所示的课程表。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3．使用表格技术制作馨美装修新闻列表，如图3-30所示。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4．使用结构元素构建网页布局，制作如图3-31所示的页面。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5．使用表单技术制作如图3-33所示的读者意见反馈卡。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6254</Words>
  <Application>WPS 演示</Application>
  <PresentationFormat>宽屏</PresentationFormat>
  <Paragraphs>350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4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平衡</vt:lpstr>
      <vt:lpstr>1_平衡</vt:lpstr>
      <vt:lpstr>PowerPoint 演示文稿</vt:lpstr>
      <vt:lpstr>第3章  网页布局与交互</vt:lpstr>
      <vt:lpstr>目录</vt:lpstr>
      <vt:lpstr>3.1  iframe框架元素</vt:lpstr>
      <vt:lpstr>3.1.1  基本格法</vt:lpstr>
      <vt:lpstr>3.1.2  使用iframe框架元素布局页面</vt:lpstr>
      <vt:lpstr>3.1.3  使用iframe框架元素实现页面间的跳转</vt:lpstr>
      <vt:lpstr>3.2  分区元素</vt:lpstr>
      <vt:lpstr>3.2.1  基本语法</vt:lpstr>
      <vt:lpstr>3.2.2  使用div元素布局页面内容</vt:lpstr>
      <vt:lpstr>3.3  范围元素</vt:lpstr>
      <vt:lpstr>3.3.1  基本语法</vt:lpstr>
      <vt:lpstr>3.3.2  span与div的异同</vt:lpstr>
      <vt:lpstr>3.3.3  案例——布局馨美装修技术支持页面</vt:lpstr>
      <vt:lpstr>3.4  HTML5文档结构元素</vt:lpstr>
      <vt:lpstr>3.4.1  section元素</vt:lpstr>
      <vt:lpstr>3.4.2  nav元素</vt:lpstr>
      <vt:lpstr>3.4.3  header元素</vt:lpstr>
      <vt:lpstr>3.4.4  footer元素</vt:lpstr>
      <vt:lpstr>3.4.5  article元素</vt:lpstr>
      <vt:lpstr>3.4.5  article元素</vt:lpstr>
      <vt:lpstr>3.4.6  aside元素</vt:lpstr>
      <vt:lpstr>3.4.7  分组元素</vt:lpstr>
      <vt:lpstr>3.4.7  分组元素</vt:lpstr>
      <vt:lpstr>3.4.8  案例——制作馨美装修人才招聘页面</vt:lpstr>
      <vt:lpstr>3.5  HTML5页面交互元素</vt:lpstr>
      <vt:lpstr>3.5.1  details元素和summary元素</vt:lpstr>
      <vt:lpstr>3.5.2  progress元素</vt:lpstr>
      <vt:lpstr>3.6  表格元素</vt:lpstr>
      <vt:lpstr>3.6.1  表格的组成</vt:lpstr>
      <vt:lpstr>3.6.2  基本表格</vt:lpstr>
      <vt:lpstr>3.6.2  基本表格</vt:lpstr>
      <vt:lpstr>3.6.3  不规范表格</vt:lpstr>
      <vt:lpstr>3.6.3  不规范表格</vt:lpstr>
      <vt:lpstr>3.6.3  不规范表格</vt:lpstr>
      <vt:lpstr>3.6.4  数据分组</vt:lpstr>
      <vt:lpstr>3.6.5  调整列的格式</vt:lpstr>
      <vt:lpstr>3.6.6  案例——使用表格布局馨美装修案例页面</vt:lpstr>
      <vt:lpstr>3.7  表单</vt:lpstr>
      <vt:lpstr>3.7.1  表单元素form</vt:lpstr>
      <vt:lpstr>3.7.2  输入元素input</vt:lpstr>
      <vt:lpstr>3.7.2  输入元素input</vt:lpstr>
      <vt:lpstr>3.7.3  标签元素label</vt:lpstr>
      <vt:lpstr>3.7.4  选择栏元素select</vt:lpstr>
      <vt:lpstr>3.7.4  选择栏元素select</vt:lpstr>
      <vt:lpstr>3.7.5  多行文本元素textarea</vt:lpstr>
      <vt:lpstr>3.7.5  多行文本元素textarea</vt:lpstr>
      <vt:lpstr>3.7.6  表单分组</vt:lpstr>
      <vt:lpstr>3.7.6  表单分组</vt:lpstr>
      <vt:lpstr>3.7.7  案例——制作馨美装修联系我们表单</vt:lpstr>
      <vt:lpstr>习题3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949</cp:revision>
  <dcterms:created xsi:type="dcterms:W3CDTF">2013-04-09T00:17:00Z</dcterms:created>
  <dcterms:modified xsi:type="dcterms:W3CDTF">2022-09-29T06:51:55Z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64DF2D4E770F42EEA2E4786DF0F644B7</vt:lpwstr>
  </property>
  <property fmtid="{D5CDD505-2E9C-101B-9397-08002B2CF9AE}" pid="3" name="KSOProductBuildVer">
    <vt:lpwstr>2052-11.1.0.12358</vt:lpwstr>
  </property>
</Properties>
</file>