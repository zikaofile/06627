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1"/>
  </p:notesMasterIdLst>
  <p:sldIdLst>
    <p:sldId id="660" r:id="rId4"/>
    <p:sldId id="603" r:id="rId5"/>
    <p:sldId id="566" r:id="rId6"/>
    <p:sldId id="568" r:id="rId7"/>
    <p:sldId id="580" r:id="rId8"/>
    <p:sldId id="569" r:id="rId9"/>
    <p:sldId id="666" r:id="rId10"/>
    <p:sldId id="667" r:id="rId12"/>
    <p:sldId id="703" r:id="rId13"/>
    <p:sldId id="570" r:id="rId14"/>
    <p:sldId id="668" r:id="rId15"/>
    <p:sldId id="704" r:id="rId16"/>
    <p:sldId id="705" r:id="rId17"/>
    <p:sldId id="669" r:id="rId18"/>
    <p:sldId id="670" r:id="rId19"/>
    <p:sldId id="571" r:id="rId20"/>
    <p:sldId id="672" r:id="rId21"/>
    <p:sldId id="673" r:id="rId22"/>
    <p:sldId id="572" r:id="rId23"/>
    <p:sldId id="676" r:id="rId24"/>
    <p:sldId id="695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4817"/>
    <a:srgbClr val="0AB4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/>
    <p:restoredTop sz="94660"/>
  </p:normalViewPr>
  <p:slideViewPr>
    <p:cSldViewPr snapToGrid="0" snapToObjects="1" showGuides="1">
      <p:cViewPr varScale="1">
        <p:scale>
          <a:sx n="116" d="100"/>
          <a:sy n="116" d="100"/>
        </p:scale>
        <p:origin x="336" y="108"/>
      </p:cViewPr>
      <p:guideLst>
        <p:guide orient="horz" pos="2124"/>
        <p:guide pos="383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763645" y="715645"/>
            <a:ext cx="4814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smtClean="0"/>
              <a:t>面向新工科普通高等教育系列</a:t>
            </a:r>
            <a:r>
              <a:rPr lang="zh-CN" altLang="zh-CN" sz="2400"/>
              <a:t>教材</a:t>
            </a:r>
            <a:endParaRPr lang="zh-CN" altLang="zh-CN" sz="2400"/>
          </a:p>
        </p:txBody>
      </p:sp>
      <p:sp>
        <p:nvSpPr>
          <p:cNvPr id="21" name="文本框 20"/>
          <p:cNvSpPr txBox="1"/>
          <p:nvPr/>
        </p:nvSpPr>
        <p:spPr>
          <a:xfrm>
            <a:off x="9003665" y="5825490"/>
            <a:ext cx="2230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2000" b="1" kern="1200" cap="none" spc="300" normalizeH="0" baseline="0" noProof="0" smtClean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机械工业出</a:t>
            </a:r>
            <a:r>
              <a:rPr kumimoji="0" lang="zh-CN" altLang="en-US" sz="2000" b="1" kern="1200" cap="none" spc="300" normalizeH="0" baseline="0" noProof="0" dirty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版社</a:t>
            </a:r>
            <a:endParaRPr kumimoji="0" lang="zh-CN" altLang="en-US" sz="2000" b="1" kern="1200" cap="none" spc="300" normalizeH="0" baseline="0" noProof="0" dirty="0">
              <a:solidFill>
                <a:srgbClr val="D34817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6152" y="1656298"/>
            <a:ext cx="102279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网页设计与制作教程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（HTML+CSS+JavaScript）第3版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3"/>
          <p:cNvSpPr>
            <a:spLocks noGrp="1"/>
          </p:cNvSpPr>
          <p:nvPr>
            <p:ph type="ctrTitle"/>
          </p:nvPr>
        </p:nvSpPr>
        <p:spPr>
          <a:xfrm>
            <a:off x="609600" y="1506538"/>
            <a:ext cx="10972800" cy="1470025"/>
          </a:xfrm>
        </p:spPr>
        <p:txBody>
          <a:bodyPr vert="horz" wrap="square" lIns="91440" tIns="45720" rIns="91440" bIns="91440" anchor="ctr" anchorCtr="0"/>
          <a:p>
            <a:pPr>
              <a:buClrTx/>
              <a:buSzTx/>
              <a:buFontTx/>
              <a:buNone/>
            </a:pPr>
            <a:r>
              <a:rPr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第1章  网页设计与制作基础</a:t>
            </a:r>
            <a:endParaRPr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195" name="Rectangle 1"/>
          <p:cNvSpPr>
            <a:spLocks noGrp="1"/>
          </p:cNvSpPr>
          <p:nvPr>
            <p:ph type="body" idx="1"/>
          </p:nvPr>
        </p:nvSpPr>
        <p:spPr>
          <a:xfrm>
            <a:off x="601345" y="2548255"/>
            <a:ext cx="5869940" cy="3571240"/>
          </a:xfrm>
        </p:spPr>
        <p:txBody>
          <a:bodyPr/>
          <a:p>
            <a:r>
              <a:rPr lang="en-US" altLang="zh-CN"/>
              <a:t>1.1 </a:t>
            </a:r>
            <a:r>
              <a:t>网页与网站的概念</a:t>
            </a:r>
          </a:p>
          <a:p>
            <a:r>
              <a:rPr lang="en-US" altLang="zh-CN"/>
              <a:t>1.2 </a:t>
            </a:r>
            <a:r>
              <a:t>Web前端开发技术简介</a:t>
            </a:r>
          </a:p>
          <a:p>
            <a:r>
              <a:rPr lang="en-US" altLang="zh-CN"/>
              <a:t>1.3 </a:t>
            </a:r>
            <a:r>
              <a:t>HTML5的基本结构和编码规范</a:t>
            </a:r>
          </a:p>
          <a:p>
            <a:r>
              <a:rPr lang="en-US" altLang="zh-CN"/>
              <a:t>1.4 </a:t>
            </a:r>
            <a:r>
              <a:t>编辑HTML文件</a:t>
            </a:r>
          </a:p>
          <a:p>
            <a:r>
              <a:rPr lang="en-US" altLang="zh-CN"/>
              <a:t>1.5 </a:t>
            </a:r>
            <a:r>
              <a:t>案例——制作馨美装修公司介绍页面</a:t>
            </a:r>
          </a:p>
          <a:p/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altLang="zh-CN">
                <a:sym typeface="+mn-ea"/>
              </a:rPr>
              <a:t>1.1 </a:t>
            </a:r>
            <a:r>
              <a:rPr>
                <a:sym typeface="+mn-ea"/>
              </a:rPr>
              <a:t>网页与网站的概念</a:t>
            </a:r>
            <a:endParaRPr lang="zh-CN" altLang="en-US" sz="3200"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>
                <a:sym typeface="+mn-ea"/>
              </a:rPr>
              <a:t>1.1 </a:t>
            </a:r>
            <a:r>
              <a:rPr>
                <a:sym typeface="+mn-ea"/>
              </a:rPr>
              <a:t>网页与网站的概念</a:t>
            </a:r>
            <a:endParaRPr lang="zh-CN" altLang="en-US" b="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网页（Web Page）是存放在Web服务器上供客户端用户浏览的文件，可以在Internet上传输。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根据侧重点的不同，网站（Web Site，也称站点）被定义为已注册的域名、主页或Web服务器。网站由域名（也就是网站地址）和网站空间构成。网站是一系列网页的组合，这些网页拥有相同或相似的属性并通过各种链接相关联。所谓相同或相似的属性，就是拥有相同的实现目的、相似的设计或共同描述相关的主导体。通过浏览器，可以实现网页的跳转，从而浏览整个网站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1.2  Web前端开发技术简介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563" y="3246438"/>
            <a:ext cx="9380537" cy="2265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1.2.1  HTML5简介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1.2.2  CSS3简介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1.2.3  JavaScript简介</a:t>
            </a: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1.2.1  HTML5简介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HTML是HyperText Markup Language（超文本标记语言）的缩写，是构成Web页面、表示Web页面的符号标签语言。通过HTML，将所需表达的信息按某种规则写成HTML文件，再通过专用的浏览器来识别，并将这些HTML文件翻译成可以识别的信息，这就是网页。	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1.2.2  CSS3简介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CSS（Cascading Style Sheets，层叠样式表单）简称为样式表，是用于（增强）控制网页样式并允许将样式信息与网页内容分离的一种标记性语言。CSS是目前最好的网页表现语言之一，所谓表现就是赋予结构化文件内容显示的样式，包括版式、颜色和大小等，它扩展了HTML的功能，使网页设计者能够以更有效的方式设置网页格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1.2.3  JavaScript简介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JavaScript是一种由Netscape公司的LiveScript发展而来的客户端脚本语言。为了互用性，ECMA国际制定了ECMAScript 262标准（ECMAScript），目前流行使用的JavaScript和JScript可以认为是ECMAScript的扩展。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JavaScript的开发环境很简单，不需要Java编译器，而是直接运行在浏览器中，JavaScript通过嵌入或调入到HTML文件中实现其功能。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1.3  HTML5的基本结构和编码规范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6867" name="矩形 1"/>
          <p:cNvSpPr/>
          <p:nvPr/>
        </p:nvSpPr>
        <p:spPr>
          <a:xfrm>
            <a:off x="1981200" y="3260725"/>
            <a:ext cx="7516813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defTabSz="457200">
              <a:lnSpc>
                <a:spcPct val="150000"/>
              </a:lnSpc>
              <a:buNone/>
              <a:tabLst>
                <a:tab pos="5267325" algn="r"/>
              </a:tabLst>
            </a:pPr>
            <a:r>
              <a:rPr sz="2400" b="1" dirty="0">
                <a:latin typeface="Calibri" panose="020F0502020204030204" pitchFamily="34" charset="0"/>
                <a:cs typeface="Times New Roman" panose="02020603050405020304" pitchFamily="18" charset="0"/>
              </a:rPr>
              <a:t>1.3.1  HTML5语法结构</a:t>
            </a:r>
            <a:endParaRPr sz="24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defTabSz="457200">
              <a:lnSpc>
                <a:spcPct val="150000"/>
              </a:lnSpc>
              <a:buNone/>
              <a:tabLst>
                <a:tab pos="5267325" algn="r"/>
              </a:tabLst>
            </a:pPr>
            <a:r>
              <a:rPr sz="2400" b="1" dirty="0">
                <a:latin typeface="Calibri" panose="020F0502020204030204" pitchFamily="34" charset="0"/>
                <a:cs typeface="Times New Roman" panose="02020603050405020304" pitchFamily="18" charset="0"/>
              </a:rPr>
              <a:t>1.3.2  HTML5文档结构</a:t>
            </a:r>
            <a:endParaRPr sz="24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defTabSz="457200">
              <a:lnSpc>
                <a:spcPct val="150000"/>
              </a:lnSpc>
              <a:buNone/>
              <a:tabLst>
                <a:tab pos="5267325" algn="r"/>
              </a:tabLst>
            </a:pPr>
            <a:r>
              <a:rPr sz="2400" b="1" dirty="0">
                <a:latin typeface="Calibri" panose="020F0502020204030204" pitchFamily="34" charset="0"/>
                <a:cs typeface="Times New Roman" panose="02020603050405020304" pitchFamily="18" charset="0"/>
              </a:rPr>
              <a:t>1.3.3  HTML5编码规范</a:t>
            </a:r>
            <a:endParaRPr sz="24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1.3.1  HTML5语法结构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1．标签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HTML文档由标签和被标签的内容组成。标签能产生所需要的各种效果，其功能类似于一个排版软件，将网页的内容排成理想的效果。在HTML中，通常标签都是由开始标签和结束标签组成的，开始标签用“&lt;标签&gt;”表示，结束标签用“&lt;/标签&gt;”表示。其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	</a:t>
            </a:r>
            <a:r>
              <a:rPr lang="en-US" altLang="zh-CN" sz="2400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&lt;标签&gt; 受标签影响的内容 &lt;/标签&gt;</a:t>
            </a:r>
            <a:endParaRPr lang="en-US" altLang="zh-CN" sz="2400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1.3.1  HTML5语法结构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2．内容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HTML元素分为有内容的元素和空元素两种。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（1）有内容的元素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有内容的元素是由开始标签、结束标签及两者之间的元素内容组成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（2）空元素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空元素只有开始标签而没有结束标签，也没有元素内容。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（3）元素的嵌套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1.3.1  HTML5语法结构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3．属性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标签仅仅规定这是什么信息，但是要想显示或控制这些信息，就需要在标签后面加上相关的属性。标签通过属性来制作出各种效果，通常都是以“属性名="值"”的形式来表示，用空格隔开后，还可以指定多个属性，并且在指定多个属性时不用区分顺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其格式为：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&lt;标签  属性1="属性值1"  属性2="属性值2" …&gt; 受标签影响的内容 &lt;/标签&gt;</a:t>
            </a:r>
            <a:endParaRPr lang="en-US" altLang="zh-CN" sz="2400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1.3.2  HTML5文档结构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HTML5文档是一种纯文本格式的文件，文档的基本结构为：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&lt;!DOCTYPE html&gt;</a:t>
            </a:r>
            <a:endParaRPr lang="en-US" altLang="zh-CN" sz="2000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&lt;html&gt;</a:t>
            </a:r>
            <a:endParaRPr lang="en-US" altLang="zh-CN" sz="2000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    &lt;head&gt;</a:t>
            </a:r>
            <a:endParaRPr lang="en-US" altLang="zh-CN" sz="2000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        &lt;meta charset="utf-8"&gt;</a:t>
            </a:r>
            <a:endParaRPr lang="en-US" altLang="zh-CN" sz="2000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        &lt;title&gt;文档标题&lt;/title&gt;</a:t>
            </a:r>
            <a:endParaRPr lang="en-US" altLang="zh-CN" sz="2000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    &lt;/head&gt;</a:t>
            </a:r>
            <a:endParaRPr lang="en-US" altLang="zh-CN" sz="2000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    &lt;body&gt;</a:t>
            </a:r>
            <a:endParaRPr lang="en-US" altLang="zh-CN" sz="2000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        网页内容</a:t>
            </a:r>
            <a:endParaRPr lang="en-US" altLang="zh-CN" sz="2000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    &lt;/body&gt;</a:t>
            </a:r>
            <a:endParaRPr lang="en-US" altLang="zh-CN" sz="2000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&lt;/html&gt;</a:t>
            </a:r>
            <a:endParaRPr lang="en-US" altLang="zh-CN" sz="2000" kern="1200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1.3.3  HTML5编码规范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页面的HTML代码书写必须符合HTML规范。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1．HTML书写规范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2．标签的规范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3．属性的规范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4．元素的嵌套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5．代码的缩进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272905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1.4  编辑HTML文件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288" y="3289300"/>
            <a:ext cx="10363200" cy="23256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1.4.1  常见的网页编辑工具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1.4.2  HTML文件的创建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spcBef>
                <a:spcPct val="0"/>
              </a:spcBef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1.4.1  常见的网页编辑工具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1．HBuilder X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2．Dreamweaver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3．Visual Studio Code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4．Sublime Text3汉化版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5．Notepad++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1.4.2  HTML文件的创建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使用HBuilder X创建一个只有文本组成的简单页面，通过它来学习网页的编辑、保存和浏览过程。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36090" y="3089910"/>
            <a:ext cx="8720455" cy="246697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1.5  案例——制作馨美装修公司介绍页面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1.5  案例——制作馨美装修公司介绍页面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【例1-1】制作馨美装修公司介绍页面，本例文件1-1.html在浏览器中的显示效果如图1-17所示。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565" y="2875280"/>
            <a:ext cx="7976870" cy="259524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习题1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1．简答Web前端开发的常用技术组合。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2．简答HTML的发展历史及HTML5的特性。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3．简述HTML5文档的基本结构及语法规范。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4．简述常见的网页编辑工具。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5．使用Hbuilder X创建一个包含网页基本结构的页面。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6．制作简单的HTML5文档，检测浏览器是否支持HTML5。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M_UNIT_PLACING_PICTURE_USER_VIEWPORT" val="{&quot;height&quot;:2580,&quot;width&quot;:9120}"/>
</p:tagLst>
</file>

<file path=ppt/tags/tag2.xml><?xml version="1.0" encoding="utf-8"?>
<p:tagLst xmlns:p="http://schemas.openxmlformats.org/presentationml/2006/main">
  <p:tag name="COMMONDATA" val="eyJoZGlkIjoiYzZjOTM1MTZkYjlhMDFiZTJlZWZhNTQ1YWMzMjI1ND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镶边</Template>
  <TotalTime>0</TotalTime>
  <Words>2246</Words>
  <Application>WPS 演示</Application>
  <PresentationFormat>宽屏</PresentationFormat>
  <Paragraphs>133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宋体</vt:lpstr>
      <vt:lpstr>Wingdings</vt:lpstr>
      <vt:lpstr>Calibri</vt:lpstr>
      <vt:lpstr>Franklin Gothic Book</vt:lpstr>
      <vt:lpstr>幼圆</vt:lpstr>
      <vt:lpstr>Wingdings 2</vt:lpstr>
      <vt:lpstr>微软雅黑</vt:lpstr>
      <vt:lpstr>Times New Roman</vt:lpstr>
      <vt:lpstr>Perpetua</vt:lpstr>
      <vt:lpstr>Arial Unicode MS</vt:lpstr>
      <vt:lpstr>幼圆</vt:lpstr>
      <vt:lpstr>平衡</vt:lpstr>
      <vt:lpstr>1_平衡</vt:lpstr>
      <vt:lpstr>PowerPoint 演示文稿</vt:lpstr>
      <vt:lpstr>第1章  HTML5基础</vt:lpstr>
      <vt:lpstr>目录</vt:lpstr>
      <vt:lpstr>1.1 Web的基本概念</vt:lpstr>
      <vt:lpstr>1.1.1  WWW</vt:lpstr>
      <vt:lpstr>1.2  网站与网页</vt:lpstr>
      <vt:lpstr>1.2.1  网站、网页和主页</vt:lpstr>
      <vt:lpstr>1.2.2  静态网页和动态网页</vt:lpstr>
      <vt:lpstr>1.2.2  CSS3简介</vt:lpstr>
      <vt:lpstr>1.3  Web标准</vt:lpstr>
      <vt:lpstr>1.3.1  Web标准简介</vt:lpstr>
      <vt:lpstr>1.3.1  HTML5语法结构</vt:lpstr>
      <vt:lpstr>1.3.1  HTML5语法结构</vt:lpstr>
      <vt:lpstr>1.3.2  建立Web标准的优点</vt:lpstr>
      <vt:lpstr>1.3.3  网页的表现和结构相分离</vt:lpstr>
      <vt:lpstr>1.4  认识HTML5+CSS3+JavaScript技术组合</vt:lpstr>
      <vt:lpstr>1.4.1  HTML5简介</vt:lpstr>
      <vt:lpstr>1.4.1  HTML5简介</vt:lpstr>
      <vt:lpstr>1.5  HTML5语法基础</vt:lpstr>
      <vt:lpstr>1.5.1  HTML5语法结构</vt:lpstr>
      <vt:lpstr>习题1</vt:lpstr>
    </vt:vector>
  </TitlesOfParts>
  <Company>Neusoft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Lixin Ma</dc:creator>
  <cp:lastModifiedBy>回归法师</cp:lastModifiedBy>
  <cp:revision>861</cp:revision>
  <dcterms:created xsi:type="dcterms:W3CDTF">2013-04-09T00:17:00Z</dcterms:created>
  <dcterms:modified xsi:type="dcterms:W3CDTF">2022-09-29T04:28:58Z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8D16974CF50D41F9928398CB994E29A3</vt:lpwstr>
  </property>
  <property fmtid="{D5CDD505-2E9C-101B-9397-08002B2CF9AE}" pid="3" name="KSOProductBuildVer">
    <vt:lpwstr>2052-11.1.0.12358</vt:lpwstr>
  </property>
</Properties>
</file>