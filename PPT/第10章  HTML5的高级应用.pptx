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660" r:id="rId4"/>
    <p:sldId id="603" r:id="rId5"/>
    <p:sldId id="566" r:id="rId6"/>
    <p:sldId id="568" r:id="rId7"/>
    <p:sldId id="580" r:id="rId8"/>
    <p:sldId id="919" r:id="rId9"/>
    <p:sldId id="920" r:id="rId10"/>
    <p:sldId id="921" r:id="rId11"/>
    <p:sldId id="922" r:id="rId12"/>
    <p:sldId id="923" r:id="rId13"/>
    <p:sldId id="924" r:id="rId14"/>
    <p:sldId id="569" r:id="rId15"/>
    <p:sldId id="666" r:id="rId16"/>
    <p:sldId id="877" r:id="rId18"/>
    <p:sldId id="910" r:id="rId19"/>
    <p:sldId id="925" r:id="rId20"/>
    <p:sldId id="926" r:id="rId21"/>
    <p:sldId id="927" r:id="rId22"/>
    <p:sldId id="928" r:id="rId23"/>
    <p:sldId id="929" r:id="rId24"/>
    <p:sldId id="930" r:id="rId25"/>
    <p:sldId id="931" r:id="rId26"/>
    <p:sldId id="932" r:id="rId27"/>
    <p:sldId id="933" r:id="rId28"/>
    <p:sldId id="934" r:id="rId29"/>
    <p:sldId id="695" r:id="rId30"/>
  </p:sldIdLst>
  <p:sldSz cx="12192000" cy="6858000"/>
  <p:notesSz cx="6858000" cy="9144000"/>
  <p:custDataLst>
    <p:tags r:id="rId34"/>
  </p:custDataLst>
  <p:defaultTextStyle>
    <a:defPPr>
      <a:defRPr lang="zh-CN"/>
    </a:defPPr>
    <a:lvl1pPr marL="0" lvl="0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4572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B4E6"/>
    <a:srgbClr val="D34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/>
    <p:restoredTop sz="94660"/>
  </p:normalViewPr>
  <p:slideViewPr>
    <p:cSldViewPr snapToGrid="0" snapToObjects="1" showGuides="1">
      <p:cViewPr varScale="1">
        <p:scale>
          <a:sx n="116" d="100"/>
          <a:sy n="116" d="100"/>
        </p:scale>
        <p:origin x="336" y="108"/>
      </p:cViewPr>
      <p:guideLst>
        <p:guide orient="horz" pos="2072"/>
        <p:guide pos="37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4" Type="http://schemas.openxmlformats.org/officeDocument/2006/relationships/tags" Target="tags/tag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313" y="69850"/>
            <a:ext cx="1201737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4138" y="1449388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138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4138" y="2976563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 b="1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b="1" dirty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6" name="日期占位符 27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18DFB5F-B678-4398-8E22-3053B1AB22FF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accent1">
                  <a:tint val="20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28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5247FD3-D1BD-457C-8BE0-518CD2126FE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b="1"/>
            </a:lvl1pPr>
            <a:lvl2pPr>
              <a:lnSpc>
                <a:spcPct val="150000"/>
              </a:lnSpc>
              <a:spcBef>
                <a:spcPts val="0"/>
              </a:spcBef>
              <a:defRPr b="1"/>
            </a:lvl2pPr>
            <a:lvl3pPr>
              <a:lnSpc>
                <a:spcPct val="150000"/>
              </a:lnSpc>
              <a:spcBef>
                <a:spcPts val="0"/>
              </a:spcBef>
              <a:defRPr b="1"/>
            </a:lvl3pPr>
            <a:lvl4pPr>
              <a:lnSpc>
                <a:spcPct val="150000"/>
              </a:lnSpc>
              <a:spcBef>
                <a:spcPts val="0"/>
              </a:spcBef>
              <a:defRPr b="1"/>
            </a:lvl4pPr>
            <a:lvl5pPr>
              <a:lnSpc>
                <a:spcPct val="150000"/>
              </a:lnSpc>
              <a:spcBef>
                <a:spcPts val="0"/>
              </a:spcBef>
              <a:defRPr b="1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13C1E1A-29CE-4130-B6CB-7B952544EEC4}" type="datetimeFigureOut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8E227E-50DE-48A4-94AE-B340EF1E44A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11" name="圆角矩形 10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 flipV="1">
            <a:off x="93663" y="2376488"/>
            <a:ext cx="120173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663" y="2341563"/>
            <a:ext cx="1201737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0488" y="2468563"/>
            <a:ext cx="12020550" cy="46038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1" cap="none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6" name="日期占位符 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290161-E5E8-48F2-A979-3CEDE248A7B2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66800" y="6172200"/>
            <a:ext cx="53340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692A7D-B259-436C-8F15-C153D52B6E6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4" name="圆角矩形 10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7B42A5-D9BC-4157-91F2-6038DEF1B6F8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8497ADB-2969-4619-A713-B22D1E6833B2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 flipV="1">
            <a:off x="90488" y="4683125"/>
            <a:ext cx="120110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0488" y="4649788"/>
            <a:ext cx="12011025" cy="46038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0488" y="4773613"/>
            <a:ext cx="1201102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日期占位符 4"/>
          <p:cNvSpPr>
            <a:spLocks noGrp="1"/>
          </p:cNvSpPr>
          <p:nvPr>
            <p:ph type="dt" sz="half" idx="1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6602FF-C159-4489-B726-CDB62323871F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页脚占位符 5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181600" cy="457200"/>
          </a:xfrm>
          <a:prstGeom prst="rect">
            <a:avLst/>
          </a:prstGeom>
        </p:spPr>
        <p:txBody>
          <a:bodyPr anchor="ctr" anchorCtr="0"/>
          <a:lstStyle>
            <a:lvl1pPr>
              <a:defRPr/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95263" y="6208713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>
              <a:defRPr/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97902EE-FEA8-4FA2-876D-631929D3DC7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 useBgFill="1">
        <p:nvSpPr>
          <p:cNvPr id="8" name="圆角矩形 7"/>
          <p:cNvSpPr/>
          <p:nvPr/>
        </p:nvSpPr>
        <p:spPr>
          <a:xfrm>
            <a:off x="84138" y="69850"/>
            <a:ext cx="1201896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8" name="标题占位符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  <a:noFill/>
          <a:ln w="9525">
            <a:noFill/>
          </a:ln>
        </p:spPr>
        <p:txBody>
          <a:bodyPr bIns="91440" anchor="b" anchorCtr="0"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9" name="文本占位符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84CFA3-22F9-441D-914A-2DC3F5E4E300}" type="datetimeFigureOut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9526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itchFamily="34" charset="0"/>
                <a:ea typeface="幼圆" pitchFamily="49" charset="-122"/>
              </a:defRPr>
            </a:lvl1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014AB14-D33C-4BA3-861F-DF1CF49A13E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itchFamily="34" charset="0"/>
                <a:ea typeface="幼圆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itchFamily="34" charset="0"/>
              <a:ea typeface="幼圆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幼圆" pitchFamily="49" charset="-122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/>
          <p:cNvSpPr txBox="1"/>
          <p:nvPr/>
        </p:nvSpPr>
        <p:spPr>
          <a:xfrm>
            <a:off x="3763645" y="715645"/>
            <a:ext cx="4814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smtClean="0"/>
              <a:t>面向新工科普通高等教育系列</a:t>
            </a:r>
            <a:r>
              <a:rPr lang="zh-CN" altLang="zh-CN" sz="2400"/>
              <a:t>教材</a:t>
            </a:r>
            <a:endParaRPr lang="zh-CN" altLang="zh-CN" sz="2400"/>
          </a:p>
        </p:txBody>
      </p:sp>
      <p:sp>
        <p:nvSpPr>
          <p:cNvPr id="21" name="文本框 20"/>
          <p:cNvSpPr txBox="1"/>
          <p:nvPr/>
        </p:nvSpPr>
        <p:spPr>
          <a:xfrm>
            <a:off x="9003665" y="5825490"/>
            <a:ext cx="2230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300" normalizeH="0" baseline="0" noProof="0" smtClean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机械工业出</a:t>
            </a:r>
            <a:r>
              <a:rPr kumimoji="0" lang="zh-CN" altLang="en-US" sz="2000" b="1" kern="1200" cap="none" spc="300" normalizeH="0" baseline="0" noProof="0" dirty="0">
                <a:solidFill>
                  <a:srgbClr val="D34817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版社</a:t>
            </a:r>
            <a:endParaRPr kumimoji="0" lang="zh-CN" altLang="en-US" sz="2000" b="1" kern="1200" cap="none" spc="300" normalizeH="0" baseline="0" noProof="0" dirty="0">
              <a:solidFill>
                <a:srgbClr val="D34817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66152" y="1656298"/>
            <a:ext cx="102279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网页设计与制作教程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  <a:p>
            <a:pPr algn="ctr">
              <a:defRPr/>
            </a:pPr>
            <a:r>
              <a:rPr sz="4000" b="1" spc="300">
                <a:solidFill>
                  <a:schemeClr val="bg1"/>
                </a:solidFill>
                <a:latin typeface="微软雅黑" panose="020B0503020204020204" charset="-122"/>
              </a:rPr>
              <a:t>（HTML+CSS+JavaScript）第3版</a:t>
            </a:r>
            <a:endParaRPr sz="4000" b="1" spc="30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3"/>
          <p:cNvSpPr>
            <a:spLocks noGrp="1"/>
          </p:cNvSpPr>
          <p:nvPr>
            <p:ph type="ctrTitle"/>
          </p:nvPr>
        </p:nvSpPr>
        <p:spPr>
          <a:xfrm>
            <a:off x="609600" y="1506538"/>
            <a:ext cx="10972800" cy="1470025"/>
          </a:xfrm>
        </p:spPr>
        <p:txBody>
          <a:bodyPr vert="horz" wrap="square" lIns="91440" tIns="45720" rIns="91440" bIns="91440" anchor="ctr" anchorCtr="0"/>
          <a:p>
            <a:pPr>
              <a:buClrTx/>
              <a:buSzTx/>
              <a:buFontTx/>
              <a:buNone/>
            </a:pPr>
            <a:r>
              <a:rPr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第10章  HTML5的高级应用</a:t>
            </a:r>
            <a:endParaRPr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195" name="Rectangle 1"/>
          <p:cNvSpPr>
            <a:spLocks noGrp="1"/>
          </p:cNvSpPr>
          <p:nvPr>
            <p:ph type="body" idx="1"/>
          </p:nvPr>
        </p:nvSpPr>
        <p:spPr>
          <a:xfrm>
            <a:off x="601345" y="2548255"/>
            <a:ext cx="5260340" cy="3571240"/>
          </a:xfrm>
        </p:spPr>
        <p:txBody>
          <a:bodyPr/>
          <a:p>
            <a:r>
              <a:t>10.1  拖放API</a:t>
            </a:r>
          </a:p>
          <a:p>
            <a:r>
              <a:t>10.2  绘图API</a:t>
            </a:r>
          </a:p>
          <a:p/>
          <a:p/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>
                <a:sym typeface="+mn-ea"/>
              </a:rPr>
              <a:t>10.1  拖放API</a:t>
            </a:r>
            <a:endParaRPr>
              <a:sym typeface="+mn-ea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10.1.1  draggable属性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10.1.2  拖放事件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10.1.3  数据传递对象dataTransfer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10.1.1  draggable属性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draggable属性用来定义元素是否可以拖动，该属性有两个值：true和false，默认为false，当值为true时表示元素选中之后可以进行拖动操作，否则不能拖动。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draggable属性设置为true时仅仅表示当前元素允许拖放，但是并不能真正实现拖放，必须与JavaScript脚本结合使用才能实现该功能。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10.1.2  拖放事件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设置元素的draggable属性为true后，该元素允许拖放。拖放元素时的一系列操作会触发相关元素的拖放事件DragEvent。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1．拖放元素事件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事件对象为被拖放元素，拖放元素事件见表10-1。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4191635"/>
            <a:ext cx="8077200" cy="16192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10.1.2  拖放事件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2．目标元素事件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事件对象为目标元素，目标元素事件见表10-2。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435" y="3142615"/>
            <a:ext cx="8048625" cy="17621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10.1.2  拖放事件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3．拖放事件的生命周期和执行过程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从用户在元素上单击鼠标左键开始拖放行为，到将该元素放置到指定的目标区域中，每个事件的生命周期见表10-3。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795" y="3649980"/>
            <a:ext cx="8105775" cy="26479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10.1.3  数据传递对象dataTransfer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dataTransfer对象的属性见表10-4。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5010" y="2381885"/>
            <a:ext cx="7915275" cy="23050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10.1.3  数据传递对象dataTransfer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dataTransfer对象的方法见表10-5。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620" y="2543175"/>
            <a:ext cx="7858125" cy="177165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>
                <a:sym typeface="+mn-ea"/>
              </a:rPr>
              <a:t>10.1.3  数据传递对象dataTransfer</a:t>
            </a:r>
            <a:endParaRPr>
              <a:sym typeface="+mn-ea"/>
            </a:endParaRPr>
          </a:p>
        </p:txBody>
      </p:sp>
      <p:sp>
        <p:nvSpPr>
          <p:cNvPr id="8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【例10-1】HTML5拖放示例，用户可以拖动页面中的图片放置到目标矩形中，本例文件10-1.html在浏览器中的显示效果如图10-1所示。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7460" y="2971800"/>
            <a:ext cx="6700520" cy="330327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标题 3"/>
          <p:cNvSpPr>
            <a:spLocks noGrp="1"/>
          </p:cNvSpPr>
          <p:nvPr>
            <p:ph type="ctrTitle"/>
          </p:nvPr>
        </p:nvSpPr>
        <p:spPr>
          <a:xfrm>
            <a:off x="1981200" y="1506538"/>
            <a:ext cx="8229600" cy="1470025"/>
          </a:xfrm>
        </p:spPr>
        <p:txBody>
          <a:bodyPr vert="horz" wrap="square" lIns="91440" tIns="45720" rIns="91440" bIns="91440" anchor="ctr" anchorCtr="0"/>
          <a:p>
            <a:pPr algn="l" defTabSz="457200">
              <a:lnSpc>
                <a:spcPct val="150000"/>
              </a:lnSpc>
              <a:buClrTx/>
              <a:buSzTx/>
              <a:buFontTx/>
              <a:buNone/>
              <a:tabLst>
                <a:tab pos="5267325" algn="r"/>
              </a:tabLst>
            </a:pPr>
            <a:r>
              <a:rPr kern="1200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+mj-cs"/>
              </a:rPr>
              <a:t>10.2  绘图API</a:t>
            </a:r>
            <a:endParaRPr kern="1200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0483" name="文本占位符 1"/>
          <p:cNvSpPr txBox="1"/>
          <p:nvPr/>
        </p:nvSpPr>
        <p:spPr>
          <a:xfrm>
            <a:off x="1833880" y="3246755"/>
            <a:ext cx="7464425" cy="226504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10.2.1  创建&lt;canvas&gt;元素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10.2.2  构建绘图环境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r>
              <a:rPr b="1" dirty="0">
                <a:latin typeface="Calibri" panose="020F0502020204030204" pitchFamily="34" charset="0"/>
                <a:cs typeface="Times New Roman" panose="02020603050405020304" pitchFamily="18" charset="0"/>
              </a:rPr>
              <a:t>10.2.3  通过JavaScript绘制图形</a:t>
            </a: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en-US" b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defTabSz="457200">
              <a:lnSpc>
                <a:spcPct val="150000"/>
              </a:lnSpc>
              <a:spcBef>
                <a:spcPct val="0"/>
              </a:spcBef>
              <a:buClrTx/>
              <a:buSzTx/>
              <a:buNone/>
              <a:tabLst>
                <a:tab pos="5267325" algn="r"/>
              </a:tabLst>
            </a:pPr>
            <a:endParaRPr lang="zh-CN" altLang="en-US" sz="1800" b="1" dirty="0">
              <a:latin typeface="Calibri" panose="020F0502020204030204" pitchFamily="34" charset="0"/>
            </a:endParaRPr>
          </a:p>
          <a:p>
            <a:pPr marL="0" lvl="0" indent="0" defTabSz="457200">
              <a:buNone/>
              <a:tabLst>
                <a:tab pos="5267325" algn="r"/>
              </a:tabLst>
            </a:pPr>
            <a:endParaRPr lang="zh-CN" altLang="en-US" b="1" dirty="0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10.2.1  创建&lt;canvas&gt;元素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&lt;canvas&gt;元素的主要属性是画布宽度属性width和高度属性height，单位是像素。向页面中添加&lt;canvas&gt;元素的语法格式为：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&lt;canvas id="画布标识" width="画布宽度" height="画布高度"&gt;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    …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&lt;/canvas&gt;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10.2.2  构建绘图环境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大多数&lt;canvas&gt;绘图API都没有定义在&lt;canvas&gt;元素本身上，而是定义在通过画布的getContext()方法获得的一个“绘图环境”对象上。getContext()方法返回一个用于在画布上绘图的环境，其语法如下：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914400" lvl="2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canvas.getContext(contextID)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在画布上绘图的核心是上下文对象CanvasRenderingContext2D，用户可以在JavaScript代码中使用getContext（）方法渲染上下文进而在画布上显示形状和文本。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getContext（）方法使用一个上下文作为其参数，一旦渲染上下文可用，程序就可以调用各种绘图方法。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1．绘制矩形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（1）绘制填充的矩形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fillRect()方法用来绘制填充的矩形，语法格式为：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fillRect(x, y, weight, height)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（2）绘制矩形轮廓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strokeRect()方法用来绘制矩形的轮廓，语法格式为：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strokeRect(x, y, weight, height)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【例10-2】绘制填充的矩形和矩形轮廓，本例文件10-2.html在浏览器中的显示效果如图10-2所示。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1670" y="3267710"/>
            <a:ext cx="3248025" cy="275209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2．绘制路径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（1）lineTo()方法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lineTo()方法用来绘制一条直线，语法格式为：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lineTo(x, y)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（2）moveTo()方法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moveTo()方法语法格式为：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moveTo(x, y)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【例10-3】绘制路径，本例文件10-3.html在浏览器中的显示效果如图10-3所示。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2385" y="2990850"/>
            <a:ext cx="4223385" cy="271272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3．绘制圆弧或圆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（1）arc()方法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arc()方法使用一个中心点和半径，格式为：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arc(x, y, radius, startAngle, endAngle, counterclockwise)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（2）arcTo()方法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arcTo()方法使用切点和半径方式绘制一条圆弧路径，格式为：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arcTo(x1, y1, x2, y2, radius)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【例10-4】绘制圆饼图，本例文件10-4.html在浏览器中的显示效果如图10-4所示。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3515" y="2933700"/>
            <a:ext cx="3646805" cy="283654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algn="l" defTabSz="457200"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4．绘制文字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（1）绘制填充文字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fillText()方法用于填充方式绘制字符串，语法格式为：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fillText(text, x, y, [maxWidth])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（2）绘制轮廓文字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strokeText()方法用于轮廓方式绘制字符串，语法格式为：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strokeText(text, x, y, [maxWidth])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algn="l" defTabSz="457200"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	【例10-5】绘制填充文字和轮廓文字，本例文件10-5.html在浏览器中的显示效果如图10-5所示。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145" y="3475355"/>
            <a:ext cx="4521835" cy="218757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algn="l" defTabSz="457200"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	5．绘制图像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格式一：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drawImage(image, x, y)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格式二：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drawImage(image, x, y, width, height)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 格式三：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algn="l">
              <a:buSzPct val="85000"/>
              <a:buNone/>
            </a:pPr>
            <a:r>
              <a:rPr lang="en-US" altLang="zh-CN" sz="2400" kern="1200" dirty="0">
                <a:solidFill>
                  <a:srgbClr val="0AB4E6"/>
                </a:solidFill>
                <a:latin typeface="+mn-lt"/>
                <a:ea typeface="+mn-ea"/>
                <a:cs typeface="+mn-cs"/>
              </a:rPr>
              <a:t>drawImage(image,sourceX,sourceY,sourceWidth,sourceHeight,destX,destY,destWidth,destHeight)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10.2.3  通过JavaScript绘制图形</a:t>
            </a:r>
            <a:endParaRPr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algn="l" defTabSz="457200"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</a:t>
            </a:r>
            <a:endParaRPr lang="en-US" altLang="zh-CN" sz="2400" kern="1200" dirty="0">
              <a:solidFill>
                <a:srgbClr val="0AB4E6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内容占位符 4"/>
          <p:cNvSpPr>
            <a:spLocks noGrp="1"/>
          </p:cNvSpPr>
          <p:nvPr/>
        </p:nvSpPr>
        <p:spPr>
          <a:xfrm>
            <a:off x="1068070" y="1574800"/>
            <a:ext cx="10641330" cy="4572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273050" indent="-27305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00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		【例10-6】在画布上进行图像缩放、切割与绘制。效果如图10-6所示。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4780" y="2664460"/>
            <a:ext cx="4613910" cy="364172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91440" anchor="b" anchorCtr="0"/>
          <a:p>
            <a:pPr marL="342900" indent="-342900"/>
            <a:r>
              <a:rPr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习题</a:t>
            </a:r>
            <a:r>
              <a:rPr lang="en-US" dirty="0">
                <a:latin typeface="Calibri" panose="020F0502020204030204" pitchFamily="34" charset="0"/>
                <a:cs typeface="Times New Roman" panose="02020603050405020304" pitchFamily="18" charset="0"/>
                <a:sym typeface="+mn-ea"/>
              </a:rPr>
              <a:t>10</a:t>
            </a:r>
            <a:endParaRPr lang="en-US" dirty="0">
              <a:latin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267" name="内容占位符 4"/>
          <p:cNvSpPr>
            <a:spLocks noGrp="1"/>
          </p:cNvSpPr>
          <p:nvPr>
            <p:ph sz="quarter" idx="1"/>
          </p:nvPr>
        </p:nvSpPr>
        <p:spPr>
          <a:xfrm>
            <a:off x="941070" y="1447800"/>
            <a:ext cx="10641330" cy="4572000"/>
          </a:xfrm>
        </p:spPr>
        <p:txBody>
          <a:bodyPr vert="horz" wrap="square" lIns="91440" tIns="45720" rIns="91440" bIns="45720" anchor="t" anchorCtr="0"/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1．使用HTML5拖放API实现购物车拖放效果，如图10-7所示。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2．使用canvas元素绘制一个火柴棒小人，如图10-8所示。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3．使用canvas元素绘制一个图形组合，如图10-9所示。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  <a:p>
            <a:pPr marL="0" indent="0">
              <a:spcBef>
                <a:spcPct val="0"/>
              </a:spcBef>
              <a:buSzPct val="85000"/>
              <a:buNone/>
            </a:pPr>
            <a:r>
              <a:rPr lang="en-US" altLang="zh-CN" sz="2800" kern="1200" dirty="0">
                <a:latin typeface="+mn-lt"/>
                <a:ea typeface="+mn-ea"/>
                <a:cs typeface="+mn-cs"/>
              </a:rPr>
              <a:t>4．使用canvas元素绘制填充文字和轮廓文字，如图10-10所示。</a:t>
            </a:r>
            <a:endParaRPr lang="en-US" altLang="zh-CN" sz="2800" kern="12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 dir="r"/>
  </p:transition>
</p:sld>
</file>

<file path=ppt/tags/tag1.xml><?xml version="1.0" encoding="utf-8"?>
<p:tagLst xmlns:p="http://schemas.openxmlformats.org/presentationml/2006/main">
  <p:tag name="COMMONDATA" val="eyJoZGlkIjoiYzZjOTM1MTZkYjlhMDFiZTJlZWZhNTQ1YWMzMjI1NDI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镶边</Template>
  <TotalTime>0</TotalTime>
  <Words>2674</Words>
  <Application>WPS 演示</Application>
  <PresentationFormat>宽屏</PresentationFormat>
  <Paragraphs>188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Franklin Gothic Book</vt:lpstr>
      <vt:lpstr>幼圆</vt:lpstr>
      <vt:lpstr>Wingdings 2</vt:lpstr>
      <vt:lpstr>微软雅黑</vt:lpstr>
      <vt:lpstr>Times New Roman</vt:lpstr>
      <vt:lpstr>Perpetua</vt:lpstr>
      <vt:lpstr>Arial Unicode MS</vt:lpstr>
      <vt:lpstr>幼圆</vt:lpstr>
      <vt:lpstr>黑体</vt:lpstr>
      <vt:lpstr>平衡</vt:lpstr>
      <vt:lpstr>1_平衡</vt:lpstr>
      <vt:lpstr>PowerPoint 演示文稿</vt:lpstr>
      <vt:lpstr>第6章  CSS3盒模型</vt:lpstr>
      <vt:lpstr>目录</vt:lpstr>
      <vt:lpstr>6.1  盒模型概述</vt:lpstr>
      <vt:lpstr>6.1.1  盒子的组成</vt:lpstr>
      <vt:lpstr>10.1.2  拖放事件</vt:lpstr>
      <vt:lpstr>10.1.2  拖放事件</vt:lpstr>
      <vt:lpstr>10.1.2  拖放事件</vt:lpstr>
      <vt:lpstr>10.1.1  draggable属性</vt:lpstr>
      <vt:lpstr>10.1.3  数据传递对象dataTransfer</vt:lpstr>
      <vt:lpstr>10.1.3  数据传递对象dataTransfer</vt:lpstr>
      <vt:lpstr>6.2  盒模型的属性</vt:lpstr>
      <vt:lpstr>6.2.1  内边距属性</vt:lpstr>
      <vt:lpstr>8.2.1  在HTML文档中嵌入脚本程序</vt:lpstr>
      <vt:lpstr>9.2.2  window对象的方法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10.2.3  通过JavaScript绘制图形</vt:lpstr>
      <vt:lpstr>习题6</vt:lpstr>
    </vt:vector>
  </TitlesOfParts>
  <Company>Neusoft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Lixin Ma</dc:creator>
  <cp:lastModifiedBy>回归法师</cp:lastModifiedBy>
  <cp:revision>1172</cp:revision>
  <dcterms:created xsi:type="dcterms:W3CDTF">2013-04-09T00:17:00Z</dcterms:created>
  <dcterms:modified xsi:type="dcterms:W3CDTF">2022-09-30T04:42:18Z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670F2B2271AF454EBD738AD02BCDB42F</vt:lpwstr>
  </property>
  <property fmtid="{D5CDD505-2E9C-101B-9397-08002B2CF9AE}" pid="3" name="KSOProductBuildVer">
    <vt:lpwstr>2052-11.1.0.12358</vt:lpwstr>
  </property>
</Properties>
</file>