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3"/>
  </p:notesMasterIdLst>
  <p:sldIdLst>
    <p:sldId id="660" r:id="rId4"/>
    <p:sldId id="603" r:id="rId5"/>
    <p:sldId id="566" r:id="rId6"/>
    <p:sldId id="568" r:id="rId7"/>
    <p:sldId id="580" r:id="rId8"/>
    <p:sldId id="714" r:id="rId9"/>
    <p:sldId id="876" r:id="rId10"/>
    <p:sldId id="569" r:id="rId11"/>
    <p:sldId id="666" r:id="rId12"/>
    <p:sldId id="822" r:id="rId14"/>
    <p:sldId id="877" r:id="rId15"/>
    <p:sldId id="878" r:id="rId16"/>
    <p:sldId id="879" r:id="rId17"/>
    <p:sldId id="880" r:id="rId18"/>
    <p:sldId id="570" r:id="rId19"/>
    <p:sldId id="668" r:id="rId20"/>
    <p:sldId id="832" r:id="rId21"/>
    <p:sldId id="571" r:id="rId22"/>
    <p:sldId id="672" r:id="rId23"/>
    <p:sldId id="778" r:id="rId24"/>
    <p:sldId id="695" r:id="rId25"/>
  </p:sldIdLst>
  <p:sldSz cx="12192000" cy="6858000"/>
  <p:notesSz cx="6858000" cy="9144000"/>
  <p:custDataLst>
    <p:tags r:id="rId29"/>
  </p:custDataLst>
  <p:defaultTextStyle>
    <a:defPPr>
      <a:defRPr lang="zh-CN"/>
    </a:defPPr>
    <a:lvl1pPr marL="0" lvl="0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B4E6"/>
    <a:srgbClr val="D348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7"/>
    <p:restoredTop sz="94660"/>
  </p:normalViewPr>
  <p:slideViewPr>
    <p:cSldViewPr snapToGrid="0" snapToObjects="1" showGuides="1">
      <p:cViewPr varScale="1">
        <p:scale>
          <a:sx n="116" d="100"/>
          <a:sy n="116" d="100"/>
        </p:scale>
        <p:origin x="336" y="108"/>
      </p:cViewPr>
      <p:guideLst>
        <p:guide orient="horz" pos="2072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gs" Target="tags/tag2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87313" y="69850"/>
            <a:ext cx="1201737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4138" y="1449388"/>
            <a:ext cx="12026900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4138" y="1397000"/>
            <a:ext cx="12026900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4138" y="2976563"/>
            <a:ext cx="12026900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 b="1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b="1" dirty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6" name="日期占位符 27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8DFB5F-B678-4398-8E22-3053B1AB22FF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accent1">
                  <a:tint val="2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28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5247FD3-D1BD-457C-8BE0-518CD2126FE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b="1"/>
            </a:lvl1pPr>
            <a:lvl2pPr>
              <a:lnSpc>
                <a:spcPct val="150000"/>
              </a:lnSpc>
              <a:spcBef>
                <a:spcPts val="0"/>
              </a:spcBef>
              <a:defRPr b="1"/>
            </a:lvl2pPr>
            <a:lvl3pPr>
              <a:lnSpc>
                <a:spcPct val="150000"/>
              </a:lnSpc>
              <a:spcBef>
                <a:spcPts val="0"/>
              </a:spcBef>
              <a:defRPr b="1"/>
            </a:lvl3pPr>
            <a:lvl4pPr>
              <a:lnSpc>
                <a:spcPct val="150000"/>
              </a:lnSpc>
              <a:spcBef>
                <a:spcPts val="0"/>
              </a:spcBef>
              <a:defRPr b="1"/>
            </a:lvl4pPr>
            <a:lvl5pPr>
              <a:lnSpc>
                <a:spcPct val="150000"/>
              </a:lnSpc>
              <a:spcBef>
                <a:spcPts val="0"/>
              </a:spcBef>
              <a:defRPr b="1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13C1E1A-29CE-4130-B6CB-7B952544EEC4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8E227E-50DE-48A4-94AE-B340EF1E44A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 flipV="1">
            <a:off x="93663" y="2376488"/>
            <a:ext cx="120173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3663" y="2341563"/>
            <a:ext cx="1201737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0488" y="2468563"/>
            <a:ext cx="12020550" cy="46038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/>
          <a:lstStyle>
            <a:lvl1pPr algn="l">
              <a:buNone/>
              <a:defRPr sz="4000" b="1" cap="none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4290161-E5E8-48F2-A979-3CEDE248A7B2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3"/>
          </p:nvPr>
        </p:nvSpPr>
        <p:spPr>
          <a:xfrm>
            <a:off x="1066800" y="6172200"/>
            <a:ext cx="53340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95263" y="6208713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692A7D-B259-436C-8F15-C153D52B6E64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4" name="圆角矩形 10"/>
          <p:cNvSpPr/>
          <p:nvPr/>
        </p:nvSpPr>
        <p:spPr>
          <a:xfrm>
            <a:off x="84138" y="69850"/>
            <a:ext cx="1201896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2" name="日期占位符 4"/>
          <p:cNvSpPr>
            <a:spLocks noGrp="1"/>
          </p:cNvSpPr>
          <p:nvPr>
            <p:ph type="dt" sz="half" idx="1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7B42A5-D9BC-4157-91F2-6038DEF1B6F8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页脚占位符 5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8497ADB-2969-4619-A713-B22D1E6833B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 flipV="1">
            <a:off x="90488" y="4683125"/>
            <a:ext cx="120110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0488" y="4649788"/>
            <a:ext cx="1201102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0488" y="4773613"/>
            <a:ext cx="1201102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日期占位符 4"/>
          <p:cNvSpPr>
            <a:spLocks noGrp="1"/>
          </p:cNvSpPr>
          <p:nvPr>
            <p:ph type="dt" sz="half" idx="1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6602FF-C159-4489-B726-CDB62323871F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页脚占位符 5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1816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95263" y="6208713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97902EE-FEA8-4FA2-876D-631929D3DC7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87313" y="69850"/>
            <a:ext cx="1201737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4138" y="1449388"/>
            <a:ext cx="12026900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4138" y="1397000"/>
            <a:ext cx="12026900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4138" y="2976563"/>
            <a:ext cx="12026900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 b="1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b="1" dirty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6" name="日期占位符 27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8DFB5F-B678-4398-8E22-3053B1AB22FF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accent1">
                  <a:tint val="2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28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5247FD3-D1BD-457C-8BE0-518CD2126FE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b="1"/>
            </a:lvl1pPr>
            <a:lvl2pPr>
              <a:lnSpc>
                <a:spcPct val="150000"/>
              </a:lnSpc>
              <a:spcBef>
                <a:spcPts val="0"/>
              </a:spcBef>
              <a:defRPr b="1"/>
            </a:lvl2pPr>
            <a:lvl3pPr>
              <a:lnSpc>
                <a:spcPct val="150000"/>
              </a:lnSpc>
              <a:spcBef>
                <a:spcPts val="0"/>
              </a:spcBef>
              <a:defRPr b="1"/>
            </a:lvl3pPr>
            <a:lvl4pPr>
              <a:lnSpc>
                <a:spcPct val="150000"/>
              </a:lnSpc>
              <a:spcBef>
                <a:spcPts val="0"/>
              </a:spcBef>
              <a:defRPr b="1"/>
            </a:lvl4pPr>
            <a:lvl5pPr>
              <a:lnSpc>
                <a:spcPct val="150000"/>
              </a:lnSpc>
              <a:spcBef>
                <a:spcPts val="0"/>
              </a:spcBef>
              <a:defRPr b="1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13C1E1A-29CE-4130-B6CB-7B952544EEC4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8E227E-50DE-48A4-94AE-B340EF1E44A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 flipV="1">
            <a:off x="93663" y="2376488"/>
            <a:ext cx="120173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3663" y="2341563"/>
            <a:ext cx="1201737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0488" y="2468563"/>
            <a:ext cx="12020550" cy="46038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/>
          <a:lstStyle>
            <a:lvl1pPr algn="l">
              <a:buNone/>
              <a:defRPr sz="4000" b="1" cap="none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4290161-E5E8-48F2-A979-3CEDE248A7B2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3"/>
          </p:nvPr>
        </p:nvSpPr>
        <p:spPr>
          <a:xfrm>
            <a:off x="1066800" y="6172200"/>
            <a:ext cx="53340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95263" y="6208713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692A7D-B259-436C-8F15-C153D52B6E64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4" name="圆角矩形 10"/>
          <p:cNvSpPr/>
          <p:nvPr/>
        </p:nvSpPr>
        <p:spPr>
          <a:xfrm>
            <a:off x="84138" y="69850"/>
            <a:ext cx="1201896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2" name="日期占位符 4"/>
          <p:cNvSpPr>
            <a:spLocks noGrp="1"/>
          </p:cNvSpPr>
          <p:nvPr>
            <p:ph type="dt" sz="half" idx="1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7B42A5-D9BC-4157-91F2-6038DEF1B6F8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页脚占位符 5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8497ADB-2969-4619-A713-B22D1E6833B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 flipV="1">
            <a:off x="90488" y="4683125"/>
            <a:ext cx="120110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0488" y="4649788"/>
            <a:ext cx="1201102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0488" y="4773613"/>
            <a:ext cx="1201102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日期占位符 4"/>
          <p:cNvSpPr>
            <a:spLocks noGrp="1"/>
          </p:cNvSpPr>
          <p:nvPr>
            <p:ph type="dt" sz="half" idx="1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6602FF-C159-4489-B726-CDB62323871F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页脚占位符 5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1816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95263" y="6208713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97902EE-FEA8-4FA2-876D-631929D3DC7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8" name="圆角矩形 7"/>
          <p:cNvSpPr/>
          <p:nvPr/>
        </p:nvSpPr>
        <p:spPr>
          <a:xfrm>
            <a:off x="84138" y="69850"/>
            <a:ext cx="1201896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8" name="标题占位符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 w="9525">
            <a:noFill/>
          </a:ln>
        </p:spPr>
        <p:txBody>
          <a:bodyPr bIns="91440" anchor="b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9" name="文本占位符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 algn="ctr" eaLnBrk="1" hangingPunct="1">
              <a:defRPr sz="1400">
                <a:solidFill>
                  <a:srgbClr val="FFFFFF"/>
                </a:solidFill>
                <a:latin typeface="Franklin Gothic Book" pitchFamily="34" charset="0"/>
                <a:ea typeface="幼圆" pitchFamily="49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005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8" name="圆角矩形 7"/>
          <p:cNvSpPr/>
          <p:nvPr/>
        </p:nvSpPr>
        <p:spPr>
          <a:xfrm>
            <a:off x="84138" y="69850"/>
            <a:ext cx="1201896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8" name="标题占位符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 w="9525">
            <a:noFill/>
          </a:ln>
        </p:spPr>
        <p:txBody>
          <a:bodyPr bIns="91440" anchor="b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9" name="文本占位符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 algn="ctr" eaLnBrk="1" hangingPunct="1">
              <a:defRPr sz="1400">
                <a:solidFill>
                  <a:srgbClr val="FFFFFF"/>
                </a:solidFill>
                <a:latin typeface="Franklin Gothic Book" pitchFamily="34" charset="0"/>
                <a:ea typeface="幼圆" pitchFamily="49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005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3763645" y="715645"/>
            <a:ext cx="48145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2400" smtClean="0"/>
              <a:t>面向新工科普通高等教育系列</a:t>
            </a:r>
            <a:r>
              <a:rPr lang="zh-CN" altLang="zh-CN" sz="2400"/>
              <a:t>教材</a:t>
            </a:r>
            <a:endParaRPr lang="zh-CN" altLang="zh-CN" sz="2400"/>
          </a:p>
        </p:txBody>
      </p:sp>
      <p:sp>
        <p:nvSpPr>
          <p:cNvPr id="21" name="文本框 20"/>
          <p:cNvSpPr txBox="1"/>
          <p:nvPr/>
        </p:nvSpPr>
        <p:spPr>
          <a:xfrm>
            <a:off x="9003665" y="5825490"/>
            <a:ext cx="22301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2000" b="1" kern="1200" cap="none" spc="300" normalizeH="0" baseline="0" noProof="0" smtClean="0">
                <a:solidFill>
                  <a:srgbClr val="D34817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机械工业出</a:t>
            </a:r>
            <a:r>
              <a:rPr kumimoji="0" lang="zh-CN" altLang="en-US" sz="2000" b="1" kern="1200" cap="none" spc="300" normalizeH="0" baseline="0" noProof="0" dirty="0">
                <a:solidFill>
                  <a:srgbClr val="D34817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版社</a:t>
            </a:r>
            <a:endParaRPr kumimoji="0" lang="zh-CN" altLang="en-US" sz="2000" b="1" kern="1200" cap="none" spc="300" normalizeH="0" baseline="0" noProof="0" dirty="0">
              <a:solidFill>
                <a:srgbClr val="D34817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66152" y="1656298"/>
            <a:ext cx="102279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sz="4000" b="1" spc="300">
                <a:solidFill>
                  <a:schemeClr val="bg1"/>
                </a:solidFill>
                <a:latin typeface="微软雅黑" panose="020B0503020204020204" charset="-122"/>
              </a:rPr>
              <a:t>网页设计与制作教程</a:t>
            </a:r>
            <a:endParaRPr sz="4000" b="1" spc="300">
              <a:solidFill>
                <a:schemeClr val="bg1"/>
              </a:solidFill>
              <a:latin typeface="微软雅黑" panose="020B0503020204020204" charset="-122"/>
            </a:endParaRPr>
          </a:p>
          <a:p>
            <a:pPr algn="ctr">
              <a:defRPr/>
            </a:pPr>
            <a:r>
              <a:rPr sz="4000" b="1" spc="300">
                <a:solidFill>
                  <a:schemeClr val="bg1"/>
                </a:solidFill>
                <a:latin typeface="微软雅黑" panose="020B0503020204020204" charset="-122"/>
              </a:rPr>
              <a:t>（HTML+CSS+JavaScript）第3版</a:t>
            </a:r>
            <a:endParaRPr sz="4000" b="1" spc="300">
              <a:solidFill>
                <a:schemeClr val="bg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09600" y="1506538"/>
            <a:ext cx="10972800" cy="1470025"/>
          </a:xfrm>
        </p:spPr>
        <p:txBody>
          <a:bodyPr vert="horz" wrap="square" lIns="91440" tIns="45720" rIns="91440" bIns="91440" anchor="ctr" anchorCtr="0"/>
          <a:p>
            <a:pPr>
              <a:buClrTx/>
              <a:buSzTx/>
              <a:buFontTx/>
              <a:buNone/>
            </a:pPr>
            <a:r>
              <a:rPr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第7章  Div+CSS布局页面</a:t>
            </a:r>
            <a:endParaRPr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195" name="Rectangle 1"/>
          <p:cNvSpPr>
            <a:spLocks noGrp="1"/>
          </p:cNvSpPr>
          <p:nvPr>
            <p:ph type="body" idx="1"/>
          </p:nvPr>
        </p:nvSpPr>
        <p:spPr>
          <a:xfrm>
            <a:off x="601345" y="2548255"/>
            <a:ext cx="8998585" cy="3571240"/>
          </a:xfrm>
        </p:spPr>
        <p:txBody>
          <a:bodyPr/>
          <a:p>
            <a:r>
              <a:t>7.1  Div+CSS布局技术简介</a:t>
            </a:r>
          </a:p>
          <a:p>
            <a:r>
              <a:t>7.2  典型的Div+CSS整体页面布局</a:t>
            </a:r>
          </a:p>
          <a:p>
            <a:r>
              <a:t>7.3  典型的局部布局</a:t>
            </a:r>
          </a:p>
          <a:p>
            <a:r>
              <a:t>7.4  综合案例——制作馨美装修商务服务中心页面</a:t>
            </a:r>
          </a:p>
          <a:p/>
        </p:txBody>
      </p:sp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3"/>
          <p:cNvSpPr>
            <a:spLocks noGrp="1"/>
          </p:cNvSpPr>
          <p:nvPr>
            <p:ph type="ctrTitle"/>
          </p:nvPr>
        </p:nvSpPr>
        <p:spPr>
          <a:xfrm>
            <a:off x="1981200" y="1506538"/>
            <a:ext cx="822960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>
                <a:sym typeface="+mn-ea"/>
              </a:rPr>
              <a:t>7.1  Div+CSS布局技术简介</a:t>
            </a:r>
            <a:endParaRPr>
              <a:sym typeface="+mn-ea"/>
            </a:endParaRPr>
          </a:p>
        </p:txBody>
      </p:sp>
      <p:sp>
        <p:nvSpPr>
          <p:cNvPr id="20483" name="文本占位符 1"/>
          <p:cNvSpPr txBox="1"/>
          <p:nvPr/>
        </p:nvSpPr>
        <p:spPr>
          <a:xfrm>
            <a:off x="1833563" y="3246438"/>
            <a:ext cx="9380537" cy="22653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7.1.1  Div+CSS布局的优点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7.1.2  使用嵌套的Div实现页面排版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en-US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zh-CN" altLang="en-US" sz="1800" b="1" dirty="0">
              <a:latin typeface="Calibri" panose="020F0502020204030204" pitchFamily="34" charset="0"/>
            </a:endParaRPr>
          </a:p>
          <a:p>
            <a:pPr marL="0" lvl="0" indent="0" defTabSz="457200">
              <a:buNone/>
              <a:tabLst>
                <a:tab pos="5267325" algn="r"/>
              </a:tabLst>
            </a:pPr>
            <a:endParaRPr lang="zh-CN" altLang="en-US" b="1" dirty="0"/>
          </a:p>
        </p:txBody>
      </p: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7.1.1  Div+CSS布局的优点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23925" y="1447800"/>
            <a:ext cx="10658475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采用Div+CSS布局方式的优点如下：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>
              <a:spcBef>
                <a:spcPct val="0"/>
              </a:spcBef>
              <a:buSzPct val="85000"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  </a:t>
            </a:r>
            <a:r>
              <a:rPr lang="en-US" altLang="zh-CN" sz="2400" kern="1200" dirty="0">
                <a:latin typeface="+mn-lt"/>
                <a:ea typeface="+mn-ea"/>
                <a:cs typeface="+mn-cs"/>
              </a:rPr>
              <a:t>Div用于搭建网站结构，CSS用于创建网站表现，将表现与内容分离，便于大型网站的协作开发和维护。</a:t>
            </a:r>
            <a:endParaRPr lang="en-US" altLang="zh-CN" sz="2400" kern="1200" dirty="0">
              <a:latin typeface="+mn-lt"/>
              <a:ea typeface="+mn-ea"/>
              <a:cs typeface="+mn-cs"/>
            </a:endParaRPr>
          </a:p>
          <a:p>
            <a:pPr>
              <a:spcBef>
                <a:spcPct val="0"/>
              </a:spcBef>
              <a:buSzPct val="85000"/>
            </a:pPr>
            <a:r>
              <a:rPr lang="en-US" altLang="zh-CN" sz="2400" kern="1200" dirty="0">
                <a:latin typeface="+mn-lt"/>
                <a:ea typeface="+mn-ea"/>
                <a:cs typeface="+mn-cs"/>
              </a:rPr>
              <a:t>  缩短了网站的改版时间，设计者只要简单地修改CSS文件就可以轻松地改版网站。</a:t>
            </a:r>
            <a:endParaRPr lang="en-US" altLang="zh-CN" sz="2400" kern="1200" dirty="0">
              <a:latin typeface="+mn-lt"/>
              <a:ea typeface="+mn-ea"/>
              <a:cs typeface="+mn-cs"/>
            </a:endParaRPr>
          </a:p>
          <a:p>
            <a:pPr>
              <a:spcBef>
                <a:spcPct val="0"/>
              </a:spcBef>
              <a:buSzPct val="85000"/>
            </a:pPr>
            <a:r>
              <a:rPr lang="en-US" altLang="zh-CN" sz="2400" kern="1200" dirty="0">
                <a:latin typeface="+mn-lt"/>
                <a:ea typeface="+mn-ea"/>
                <a:cs typeface="+mn-cs"/>
              </a:rPr>
              <a:t>  强大的字体控制和排版能力，使设计者能够更好地控制页面布局。</a:t>
            </a:r>
            <a:endParaRPr lang="en-US" altLang="zh-CN" sz="2400" kern="1200" dirty="0">
              <a:latin typeface="+mn-lt"/>
              <a:ea typeface="+mn-ea"/>
              <a:cs typeface="+mn-cs"/>
            </a:endParaRPr>
          </a:p>
          <a:p>
            <a:pPr>
              <a:spcBef>
                <a:spcPct val="0"/>
              </a:spcBef>
              <a:buSzPct val="85000"/>
            </a:pPr>
            <a:r>
              <a:rPr lang="en-US" altLang="zh-CN" sz="2400" kern="1200" dirty="0">
                <a:latin typeface="+mn-lt"/>
                <a:ea typeface="+mn-ea"/>
                <a:cs typeface="+mn-cs"/>
              </a:rPr>
              <a:t>  使用只包含结构化内容的HTML代替嵌套的标签，提高搜索引擎对网页的索引效率。</a:t>
            </a:r>
            <a:endParaRPr lang="en-US" altLang="zh-CN" sz="2400" kern="1200" dirty="0">
              <a:latin typeface="+mn-lt"/>
              <a:ea typeface="+mn-ea"/>
              <a:cs typeface="+mn-cs"/>
            </a:endParaRPr>
          </a:p>
          <a:p>
            <a:pPr>
              <a:spcBef>
                <a:spcPct val="0"/>
              </a:spcBef>
              <a:buSzPct val="85000"/>
            </a:pPr>
            <a:r>
              <a:rPr lang="en-US" altLang="zh-CN" sz="2400" kern="1200" dirty="0">
                <a:latin typeface="+mn-lt"/>
                <a:ea typeface="+mn-ea"/>
                <a:cs typeface="+mn-cs"/>
              </a:rPr>
              <a:t>  用户可以将许多网页的风格格式同时更新。</a:t>
            </a:r>
            <a:endParaRPr lang="en-US" altLang="zh-CN" sz="24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7.1.2  使用嵌套的Div实现页面排版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23925" y="1447800"/>
            <a:ext cx="10658475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Div元素是可以被嵌套的，这种嵌套的Div主要用于实现更为复杂的页面排版。下面以两个示例说明嵌套的Div之间的关系。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【例7-1】未嵌套的Div容器，本例文件7-1.html的Div布局效果如图7-1所示。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5215" y="3505200"/>
            <a:ext cx="2794635" cy="318008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7.1.2  使用嵌套的Div实现页面排版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23925" y="1447800"/>
            <a:ext cx="10658475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【例7-2】嵌套的Div容器，本例文件7-2.html的Div布局效果如图7-2所示。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0555" y="2386330"/>
            <a:ext cx="3560445" cy="414655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标题 3"/>
          <p:cNvSpPr>
            <a:spLocks noGrp="1"/>
          </p:cNvSpPr>
          <p:nvPr>
            <p:ph type="ctrTitle"/>
          </p:nvPr>
        </p:nvSpPr>
        <p:spPr>
          <a:xfrm>
            <a:off x="1981200" y="1506538"/>
            <a:ext cx="822960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7.2  典型的Div+CSS整体页面布局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0483" name="文本占位符 1"/>
          <p:cNvSpPr txBox="1"/>
          <p:nvPr/>
        </p:nvSpPr>
        <p:spPr>
          <a:xfrm>
            <a:off x="1833880" y="3246755"/>
            <a:ext cx="4378325" cy="226504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7.2.1  CSS布局类型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7.2.2  CSS布局样式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en-US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zh-CN" altLang="en-US" sz="1800" b="1" dirty="0">
              <a:latin typeface="Calibri" panose="020F0502020204030204" pitchFamily="34" charset="0"/>
            </a:endParaRPr>
          </a:p>
          <a:p>
            <a:pPr marL="0" lvl="0" indent="0" defTabSz="457200">
              <a:buNone/>
              <a:tabLst>
                <a:tab pos="5267325" algn="r"/>
              </a:tabLst>
            </a:pPr>
            <a:endParaRPr lang="zh-CN" altLang="en-US" b="1" dirty="0"/>
          </a:p>
        </p:txBody>
      </p:sp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7.2.1  CSS布局类型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基本CSS布局类型主要有固定布局和弹性伸缩布局两大类，弹性伸缩布局又分为宽度自适应布局、自适应式布局、响应式布局。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1．固定布局（Fixed Layout）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2．宽度自适应布局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3．自适应式布局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4．响应式布局（Responsive Layout）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7.2.2  CSS布局样式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1．一栏（列）布局样式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【例7-3】一栏等宽布局示例。页面从上到下分别是头部（header）、导航栏（nav）、焦点图（banner）、内容（content）和页面底部（footer），如图7-4所示。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2575" y="3447415"/>
            <a:ext cx="3612515" cy="321373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7.2.2  CSS布局样式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【例7-4】一栏通栏布局示例，如图7-5所示。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570" y="2445385"/>
            <a:ext cx="5020310" cy="417893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7.2.2  CSS布局样式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2．两栏布局样式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两栏布局样式的网页一般一边是主体内容，一边是目录的网页，两栏布局有多种实现方法。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【例7-5】两栏自适应布局示例。本例文件7-5.html在浏览器中的显示效果如图7-6所示。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4745" y="4121150"/>
            <a:ext cx="3279140" cy="260350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7.2.2  CSS布局样式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3．三栏布局样式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三栏布局样式通常两侧栏固定宽度，中间栏自适应宽度。实现三栏布局有多种方式。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【例7-6】三栏布局示例。本例文件7-6.html在浏览器中的显示效果如图7-7所示。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4425" y="4126230"/>
            <a:ext cx="3431540" cy="250190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7.2.2  CSS布局样式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4．整体布局样式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典型的整体布局有广告区、导航区、主体区和版权信息区。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【例7-7】整体布局示例。本例文件7-7.html在浏览器中的显示效果如图7-8所示。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3025" y="3524250"/>
            <a:ext cx="2639060" cy="312229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标题 3"/>
          <p:cNvSpPr>
            <a:spLocks noGrp="1"/>
          </p:cNvSpPr>
          <p:nvPr>
            <p:ph type="ctrTitle"/>
          </p:nvPr>
        </p:nvSpPr>
        <p:spPr>
          <a:xfrm>
            <a:off x="1981200" y="1506538"/>
            <a:ext cx="822960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7.3  典型的局部布局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" name="文本占位符 1"/>
          <p:cNvSpPr txBox="1"/>
          <p:nvPr/>
        </p:nvSpPr>
        <p:spPr>
          <a:xfrm>
            <a:off x="1833880" y="3246755"/>
            <a:ext cx="6332855" cy="226504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7.3.1  &lt;div&gt;-&lt;ul&gt;-&lt;li&gt;局部布局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7.3.2  &lt;div&gt;-&lt;dl&gt;-&lt;dt&gt;-&lt;dd&gt;局部布局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en-US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zh-CN" altLang="en-US" sz="1800" b="1" dirty="0">
              <a:latin typeface="Calibri" panose="020F0502020204030204" pitchFamily="34" charset="0"/>
            </a:endParaRPr>
          </a:p>
          <a:p>
            <a:pPr marL="0" lvl="0" indent="0" defTabSz="457200">
              <a:buNone/>
              <a:tabLst>
                <a:tab pos="5267325" algn="r"/>
              </a:tabLst>
            </a:pPr>
            <a:endParaRPr lang="zh-CN" altLang="en-US" b="1" dirty="0"/>
          </a:p>
        </p:txBody>
      </p:sp>
    </p:spTree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7.3.1  &lt;div&gt;-&lt;ul&gt;-&lt;li&gt;局部布局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&lt;div&gt;-&lt;ul&gt;-&lt;li&gt;局部布局方式，一般在如下场合使用：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>
              <a:spcBef>
                <a:spcPct val="0"/>
              </a:spcBef>
              <a:buSzPct val="85000"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  产品的分类导航栏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>
              <a:spcBef>
                <a:spcPct val="0"/>
              </a:spcBef>
              <a:buSzPct val="85000"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  导航菜单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>
              <a:spcBef>
                <a:spcPct val="0"/>
              </a:spcBef>
              <a:buSzPct val="85000"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  实现TAB切换效果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7.3.2  &lt;div&gt;-&lt;dl&gt;-&lt;dt&gt;-&lt;dd&gt;局部布局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图文混排的应用无处不在，例如当当网、淘宝网和迅雷看看等诸多门户，其中用于显示产品或电影的列表都是图文混排。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【例7-8】使用图文混排制作馨美装修二维码名片，本例文件7-8.html在浏览器中的显示效果如图7-9所示。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0" y="4051935"/>
            <a:ext cx="2708910" cy="252095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标题 3"/>
          <p:cNvSpPr>
            <a:spLocks noGrp="1"/>
          </p:cNvSpPr>
          <p:nvPr>
            <p:ph type="ctrTitle"/>
          </p:nvPr>
        </p:nvSpPr>
        <p:spPr>
          <a:xfrm>
            <a:off x="1292860" y="1506855"/>
            <a:ext cx="10306685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7.4  综合案例——制作馨美装修商务服务中心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9155" name="文本占位符 1"/>
          <p:cNvSpPr txBox="1"/>
          <p:nvPr/>
        </p:nvSpPr>
        <p:spPr>
          <a:xfrm>
            <a:off x="1284605" y="3289300"/>
            <a:ext cx="4732655" cy="232600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7.4.1  页面布局规划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7.4.2  页面的制作过程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zh-CN" altLang="en-US" sz="1800" b="1" dirty="0">
              <a:latin typeface="Calibri" panose="020F0502020204030204" pitchFamily="34" charset="0"/>
            </a:endParaRPr>
          </a:p>
          <a:p>
            <a:pPr marL="0" lvl="0" indent="0" defTabSz="457200">
              <a:spcBef>
                <a:spcPct val="0"/>
              </a:spcBef>
              <a:buNone/>
              <a:tabLst>
                <a:tab pos="5267325" algn="r"/>
              </a:tabLst>
            </a:pPr>
            <a:endParaRPr lang="zh-CN" altLang="en-US" b="1" dirty="0"/>
          </a:p>
        </p:txBody>
      </p:sp>
    </p:spTree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7.4.1  页面布局规划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馨美装修商务服务中心页面显示效果如图7-10所示，页面布局示意图如图7-11所示。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8910" y="2287270"/>
            <a:ext cx="6486525" cy="421957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7.4.2  页面的制作过程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dirty="0">
                <a:sym typeface="+mn-ea"/>
              </a:rPr>
              <a:t>1．前期准备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dirty="0">
                <a:sym typeface="+mn-ea"/>
              </a:rPr>
              <a:t>（1）栏目目录结构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dirty="0">
                <a:sym typeface="+mn-ea"/>
              </a:rPr>
              <a:t>（2）页面素材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dirty="0">
                <a:sym typeface="+mn-ea"/>
              </a:rPr>
              <a:t>（3）外部样式表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dirty="0">
                <a:sym typeface="+mn-ea"/>
              </a:rPr>
              <a:t>2．制作页面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dirty="0">
                <a:sym typeface="+mn-ea"/>
              </a:rPr>
              <a:t>（1）页面样式</a:t>
            </a:r>
            <a:r>
              <a:rPr lang="zh-CN" altLang="en-US" sz="2800" dirty="0">
                <a:sym typeface="+mn-ea"/>
              </a:rPr>
              <a:t>设计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dirty="0">
                <a:sym typeface="+mn-ea"/>
              </a:rPr>
              <a:t>（2）页面结构代码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习题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7</a:t>
            </a:r>
            <a:endParaRPr lang="en-US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1．制作如图7-16所示的2列固定宽度型布局。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2．制作如图7-17所示的3列固定宽度居中型布局。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3．使用Div+CSS布局技术制作如图7-18所示的页面。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4．使用Div+CSS布局技术制作如图7-19所示的页面。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tags/tag1.xml><?xml version="1.0" encoding="utf-8"?>
<p:tagLst xmlns:p="http://schemas.openxmlformats.org/presentationml/2006/main">
  <p:tag name="KSO_WM_UNIT_PLACING_PICTURE_USER_VIEWPORT" val="{&quot;height&quot;:2315,&quot;width&quot;:17280}"/>
</p:tagLst>
</file>

<file path=ppt/tags/tag2.xml><?xml version="1.0" encoding="utf-8"?>
<p:tagLst xmlns:p="http://schemas.openxmlformats.org/presentationml/2006/main">
  <p:tag name="COMMONDATA" val="eyJoZGlkIjoiYzZjOTM1MTZkYjlhMDFiZTJlZWZhNTQ1YWMzMjI1NDI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镶边</Template>
  <TotalTime>0</TotalTime>
  <Words>1839</Words>
  <Application>WPS 演示</Application>
  <PresentationFormat>宽屏</PresentationFormat>
  <Paragraphs>136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4" baseType="lpstr">
      <vt:lpstr>Arial</vt:lpstr>
      <vt:lpstr>宋体</vt:lpstr>
      <vt:lpstr>Wingdings</vt:lpstr>
      <vt:lpstr>Calibri</vt:lpstr>
      <vt:lpstr>Franklin Gothic Book</vt:lpstr>
      <vt:lpstr>幼圆</vt:lpstr>
      <vt:lpstr>Wingdings 2</vt:lpstr>
      <vt:lpstr>微软雅黑</vt:lpstr>
      <vt:lpstr>Times New Roman</vt:lpstr>
      <vt:lpstr>Perpetua</vt:lpstr>
      <vt:lpstr>Arial Unicode MS</vt:lpstr>
      <vt:lpstr>平衡</vt:lpstr>
      <vt:lpstr>1_平衡</vt:lpstr>
      <vt:lpstr>PowerPoint 演示文稿</vt:lpstr>
      <vt:lpstr>第6章  CSS3盒模型</vt:lpstr>
      <vt:lpstr>目录</vt:lpstr>
      <vt:lpstr>6.1  盒模型概述</vt:lpstr>
      <vt:lpstr>6.1.1  盒子的组成</vt:lpstr>
      <vt:lpstr>6.1.2  盒子的大小</vt:lpstr>
      <vt:lpstr>7.1.2  使用嵌套的Div实现页面排版</vt:lpstr>
      <vt:lpstr>6.2  盒模型的属性</vt:lpstr>
      <vt:lpstr>6.2.1  内边距属性</vt:lpstr>
      <vt:lpstr>6.2.1  内边距属性</vt:lpstr>
      <vt:lpstr>7.2.2  CSS布局样式</vt:lpstr>
      <vt:lpstr>7.2.2  CSS布局样式</vt:lpstr>
      <vt:lpstr>7.2.2  CSS布局样式</vt:lpstr>
      <vt:lpstr>7.2.2  CSS布局样式</vt:lpstr>
      <vt:lpstr>6.3  CSS3布局属性</vt:lpstr>
      <vt:lpstr>6.3.1  元素的布局方式概述</vt:lpstr>
      <vt:lpstr>6.3.1  元素的布局方式概述</vt:lpstr>
      <vt:lpstr>6.4  CSS3盒子定位属性</vt:lpstr>
      <vt:lpstr>6.4.1  定位位置属性</vt:lpstr>
      <vt:lpstr>6.4.2  定位方式属性</vt:lpstr>
      <vt:lpstr>习题6</vt:lpstr>
    </vt:vector>
  </TitlesOfParts>
  <Company>Neusoft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Lixin Ma</dc:creator>
  <cp:lastModifiedBy>回归法师</cp:lastModifiedBy>
  <cp:revision>1095</cp:revision>
  <dcterms:created xsi:type="dcterms:W3CDTF">2013-04-09T00:17:00Z</dcterms:created>
  <dcterms:modified xsi:type="dcterms:W3CDTF">2022-09-29T23:49:17Z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B0F5DCA45D89450E977AB126461E3307</vt:lpwstr>
  </property>
  <property fmtid="{D5CDD505-2E9C-101B-9397-08002B2CF9AE}" pid="3" name="KSOProductBuildVer">
    <vt:lpwstr>2052-11.1.0.12358</vt:lpwstr>
  </property>
</Properties>
</file>