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5"/>
  </p:notesMasterIdLst>
  <p:sldIdLst>
    <p:sldId id="660" r:id="rId4"/>
    <p:sldId id="603" r:id="rId5"/>
    <p:sldId id="566" r:id="rId6"/>
    <p:sldId id="568" r:id="rId7"/>
    <p:sldId id="580" r:id="rId8"/>
    <p:sldId id="714" r:id="rId9"/>
    <p:sldId id="715" r:id="rId10"/>
    <p:sldId id="769" r:id="rId11"/>
    <p:sldId id="770" r:id="rId12"/>
    <p:sldId id="569" r:id="rId13"/>
    <p:sldId id="666" r:id="rId14"/>
    <p:sldId id="667" r:id="rId16"/>
    <p:sldId id="771" r:id="rId17"/>
    <p:sldId id="772" r:id="rId18"/>
    <p:sldId id="773" r:id="rId19"/>
    <p:sldId id="774" r:id="rId20"/>
    <p:sldId id="775" r:id="rId21"/>
    <p:sldId id="776" r:id="rId22"/>
    <p:sldId id="570" r:id="rId23"/>
    <p:sldId id="668" r:id="rId24"/>
    <p:sldId id="748" r:id="rId25"/>
    <p:sldId id="749" r:id="rId26"/>
    <p:sldId id="777" r:id="rId27"/>
    <p:sldId id="571" r:id="rId28"/>
    <p:sldId id="672" r:id="rId29"/>
    <p:sldId id="778" r:id="rId30"/>
    <p:sldId id="779" r:id="rId31"/>
    <p:sldId id="673" r:id="rId32"/>
    <p:sldId id="780" r:id="rId33"/>
    <p:sldId id="781" r:id="rId34"/>
    <p:sldId id="782" r:id="rId35"/>
    <p:sldId id="783" r:id="rId36"/>
    <p:sldId id="784" r:id="rId37"/>
    <p:sldId id="785" r:id="rId38"/>
    <p:sldId id="750" r:id="rId39"/>
    <p:sldId id="751" r:id="rId40"/>
    <p:sldId id="786" r:id="rId41"/>
    <p:sldId id="787" r:id="rId42"/>
    <p:sldId id="752" r:id="rId43"/>
    <p:sldId id="788" r:id="rId44"/>
    <p:sldId id="753" r:id="rId45"/>
    <p:sldId id="572" r:id="rId46"/>
    <p:sldId id="676" r:id="rId47"/>
    <p:sldId id="717" r:id="rId48"/>
    <p:sldId id="707" r:id="rId49"/>
    <p:sldId id="719" r:id="rId50"/>
    <p:sldId id="720" r:id="rId51"/>
    <p:sldId id="758" r:id="rId52"/>
    <p:sldId id="708" r:id="rId53"/>
    <p:sldId id="725" r:id="rId54"/>
    <p:sldId id="695" r:id="rId55"/>
  </p:sldIdLst>
  <p:sldSz cx="12192000" cy="6858000"/>
  <p:notesSz cx="6858000" cy="9144000"/>
  <p:custDataLst>
    <p:tags r:id="rId59"/>
  </p:custDataLst>
  <p:defaultTextStyle>
    <a:defPPr>
      <a:defRPr lang="zh-CN"/>
    </a:defPPr>
    <a:lvl1pPr marL="0" lvl="0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B4E6"/>
    <a:srgbClr val="D348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/>
    <p:restoredTop sz="94660"/>
  </p:normalViewPr>
  <p:slideViewPr>
    <p:cSldViewPr snapToGrid="0" snapToObjects="1" showGuides="1">
      <p:cViewPr varScale="1">
        <p:scale>
          <a:sx n="116" d="100"/>
          <a:sy n="116" d="100"/>
        </p:scale>
        <p:origin x="336" y="108"/>
      </p:cViewPr>
      <p:guideLst>
        <p:guide orient="horz" pos="2072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9" Type="http://schemas.openxmlformats.org/officeDocument/2006/relationships/tags" Target="tags/tag1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313" y="69850"/>
            <a:ext cx="1201737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4138" y="1449388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4138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4138" y="2976563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 b="1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b="1" dirty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6" name="日期占位符 27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8DFB5F-B678-4398-8E22-3053B1AB22FF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1">
                  <a:tint val="2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28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247FD3-D1BD-457C-8BE0-518CD2126FE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b="1"/>
            </a:lvl1pPr>
            <a:lvl2pPr>
              <a:lnSpc>
                <a:spcPct val="150000"/>
              </a:lnSpc>
              <a:spcBef>
                <a:spcPts val="0"/>
              </a:spcBef>
              <a:defRPr b="1"/>
            </a:lvl2pPr>
            <a:lvl3pPr>
              <a:lnSpc>
                <a:spcPct val="150000"/>
              </a:lnSpc>
              <a:spcBef>
                <a:spcPts val="0"/>
              </a:spcBef>
              <a:defRPr b="1"/>
            </a:lvl3pPr>
            <a:lvl4pPr>
              <a:lnSpc>
                <a:spcPct val="150000"/>
              </a:lnSpc>
              <a:spcBef>
                <a:spcPts val="0"/>
              </a:spcBef>
              <a:defRPr b="1"/>
            </a:lvl4pPr>
            <a:lvl5pPr>
              <a:lnSpc>
                <a:spcPct val="150000"/>
              </a:lnSpc>
              <a:spcBef>
                <a:spcPts val="0"/>
              </a:spcBef>
              <a:defRPr b="1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3C1E1A-29CE-4130-B6CB-7B952544EEC4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8E227E-50DE-48A4-94AE-B340EF1E44A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 flipV="1">
            <a:off x="93663" y="2376488"/>
            <a:ext cx="120173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663" y="2341563"/>
            <a:ext cx="1201737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0488" y="2468563"/>
            <a:ext cx="12020550" cy="4603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1" cap="none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290161-E5E8-48F2-A979-3CEDE248A7B2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66800" y="6172200"/>
            <a:ext cx="53340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692A7D-B259-436C-8F15-C153D52B6E64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4" name="圆角矩形 10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7B42A5-D9BC-4157-91F2-6038DEF1B6F8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497ADB-2969-4619-A713-B22D1E6833B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flipV="1">
            <a:off x="90488" y="4683125"/>
            <a:ext cx="120110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0488" y="4649788"/>
            <a:ext cx="1201102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0488" y="4773613"/>
            <a:ext cx="1201102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6602FF-C159-4489-B726-CDB62323871F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1816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7902EE-FEA8-4FA2-876D-631929D3DC7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313" y="69850"/>
            <a:ext cx="1201737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4138" y="1449388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4138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4138" y="2976563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 b="1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b="1" dirty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6" name="日期占位符 27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8DFB5F-B678-4398-8E22-3053B1AB22FF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1">
                  <a:tint val="2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28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247FD3-D1BD-457C-8BE0-518CD2126FE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b="1"/>
            </a:lvl1pPr>
            <a:lvl2pPr>
              <a:lnSpc>
                <a:spcPct val="150000"/>
              </a:lnSpc>
              <a:spcBef>
                <a:spcPts val="0"/>
              </a:spcBef>
              <a:defRPr b="1"/>
            </a:lvl2pPr>
            <a:lvl3pPr>
              <a:lnSpc>
                <a:spcPct val="150000"/>
              </a:lnSpc>
              <a:spcBef>
                <a:spcPts val="0"/>
              </a:spcBef>
              <a:defRPr b="1"/>
            </a:lvl3pPr>
            <a:lvl4pPr>
              <a:lnSpc>
                <a:spcPct val="150000"/>
              </a:lnSpc>
              <a:spcBef>
                <a:spcPts val="0"/>
              </a:spcBef>
              <a:defRPr b="1"/>
            </a:lvl4pPr>
            <a:lvl5pPr>
              <a:lnSpc>
                <a:spcPct val="150000"/>
              </a:lnSpc>
              <a:spcBef>
                <a:spcPts val="0"/>
              </a:spcBef>
              <a:defRPr b="1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3C1E1A-29CE-4130-B6CB-7B952544EEC4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8E227E-50DE-48A4-94AE-B340EF1E44A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 flipV="1">
            <a:off x="93663" y="2376488"/>
            <a:ext cx="120173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663" y="2341563"/>
            <a:ext cx="1201737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0488" y="2468563"/>
            <a:ext cx="12020550" cy="4603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1" cap="none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290161-E5E8-48F2-A979-3CEDE248A7B2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66800" y="6172200"/>
            <a:ext cx="53340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692A7D-B259-436C-8F15-C153D52B6E64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4" name="圆角矩形 10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7B42A5-D9BC-4157-91F2-6038DEF1B6F8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497ADB-2969-4619-A713-B22D1E6833B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flipV="1">
            <a:off x="90488" y="4683125"/>
            <a:ext cx="120110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0488" y="4649788"/>
            <a:ext cx="1201102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0488" y="4773613"/>
            <a:ext cx="1201102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6602FF-C159-4489-B726-CDB62323871F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1816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7902EE-FEA8-4FA2-876D-631929D3DC7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8" name="圆角矩形 7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8" name="标题占位符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bIns="9144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9" name="文本占位符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itchFamily="34" charset="0"/>
                <a:ea typeface="幼圆" pitchFamily="49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8" name="圆角矩形 7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8" name="标题占位符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bIns="9144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9" name="文本占位符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itchFamily="34" charset="0"/>
                <a:ea typeface="幼圆" pitchFamily="49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3763645" y="715645"/>
            <a:ext cx="4814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2400" smtClean="0"/>
              <a:t>面向新工科普通高等教育系列</a:t>
            </a:r>
            <a:r>
              <a:rPr lang="zh-CN" altLang="zh-CN" sz="2400"/>
              <a:t>教材</a:t>
            </a:r>
            <a:endParaRPr lang="zh-CN" altLang="zh-CN" sz="2400"/>
          </a:p>
        </p:txBody>
      </p:sp>
      <p:sp>
        <p:nvSpPr>
          <p:cNvPr id="21" name="文本框 20"/>
          <p:cNvSpPr txBox="1"/>
          <p:nvPr/>
        </p:nvSpPr>
        <p:spPr>
          <a:xfrm>
            <a:off x="9003665" y="5825490"/>
            <a:ext cx="22301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2000" b="1" kern="1200" cap="none" spc="300" normalizeH="0" baseline="0" noProof="0" smtClean="0">
                <a:solidFill>
                  <a:srgbClr val="D3481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机械工业出</a:t>
            </a:r>
            <a:r>
              <a:rPr kumimoji="0" lang="zh-CN" altLang="en-US" sz="2000" b="1" kern="1200" cap="none" spc="300" normalizeH="0" baseline="0" noProof="0" dirty="0">
                <a:solidFill>
                  <a:srgbClr val="D3481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版社</a:t>
            </a:r>
            <a:endParaRPr kumimoji="0" lang="zh-CN" altLang="en-US" sz="2000" b="1" kern="1200" cap="none" spc="300" normalizeH="0" baseline="0" noProof="0" dirty="0">
              <a:solidFill>
                <a:srgbClr val="D34817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66152" y="1656298"/>
            <a:ext cx="102279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sz="4000" b="1" spc="300">
                <a:solidFill>
                  <a:schemeClr val="bg1"/>
                </a:solidFill>
                <a:latin typeface="微软雅黑" panose="020B0503020204020204" charset="-122"/>
              </a:rPr>
              <a:t>网页设计与制作教程</a:t>
            </a:r>
            <a:endParaRPr sz="4000" b="1" spc="300">
              <a:solidFill>
                <a:schemeClr val="bg1"/>
              </a:solidFill>
              <a:latin typeface="微软雅黑" panose="020B0503020204020204" charset="-122"/>
            </a:endParaRPr>
          </a:p>
          <a:p>
            <a:pPr algn="ctr">
              <a:defRPr/>
            </a:pPr>
            <a:r>
              <a:rPr sz="4000" b="1" spc="300">
                <a:solidFill>
                  <a:schemeClr val="bg1"/>
                </a:solidFill>
                <a:latin typeface="微软雅黑" panose="020B0503020204020204" charset="-122"/>
              </a:rPr>
              <a:t>（HTML+CSS+JavaScript）第3版</a:t>
            </a:r>
            <a:endParaRPr sz="4000" b="1" spc="300">
              <a:solidFill>
                <a:schemeClr val="bg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3"/>
          <p:cNvSpPr>
            <a:spLocks noGrp="1"/>
          </p:cNvSpPr>
          <p:nvPr>
            <p:ph type="ctrTitle"/>
          </p:nvPr>
        </p:nvSpPr>
        <p:spPr>
          <a:xfrm>
            <a:off x="609600" y="1506538"/>
            <a:ext cx="10972800" cy="1470025"/>
          </a:xfrm>
        </p:spPr>
        <p:txBody>
          <a:bodyPr vert="horz" wrap="square" lIns="91440" tIns="45720" rIns="91440" bIns="91440" anchor="ctr" anchorCtr="0"/>
          <a:p>
            <a:pPr>
              <a:buClrTx/>
              <a:buSzTx/>
              <a:buFontTx/>
              <a:buNone/>
            </a:pPr>
            <a:r>
              <a:rPr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第4章  CSS3样式基础</a:t>
            </a:r>
            <a:endParaRPr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195" name="Rectangle 1"/>
          <p:cNvSpPr>
            <a:spLocks noGrp="1"/>
          </p:cNvSpPr>
          <p:nvPr>
            <p:ph type="body" idx="1"/>
          </p:nvPr>
        </p:nvSpPr>
        <p:spPr>
          <a:xfrm>
            <a:off x="601345" y="2548255"/>
            <a:ext cx="5260340" cy="3571240"/>
          </a:xfrm>
        </p:spPr>
        <p:txBody>
          <a:bodyPr/>
          <a:p>
            <a:r>
              <a:t>4.1  CSS3简介</a:t>
            </a:r>
          </a:p>
          <a:p>
            <a:r>
              <a:t>4.2  在HTML中引入CSS3样式表</a:t>
            </a:r>
          </a:p>
          <a:p>
            <a:r>
              <a:t>4.3  CSS3的基本语法和属性值单位</a:t>
            </a:r>
          </a:p>
          <a:p>
            <a:r>
              <a:t>4.4  CSS3的选择符</a:t>
            </a:r>
          </a:p>
          <a:p>
            <a:r>
              <a:t>4.5  文档结构与元素类型</a:t>
            </a:r>
          </a:p>
          <a:p/>
        </p:txBody>
      </p:sp>
      <p:sp>
        <p:nvSpPr>
          <p:cNvPr id="4" name="Rectangle 1"/>
          <p:cNvSpPr>
            <a:spLocks noGrp="1"/>
          </p:cNvSpPr>
          <p:nvPr/>
        </p:nvSpPr>
        <p:spPr>
          <a:xfrm>
            <a:off x="6066155" y="2538095"/>
            <a:ext cx="5260340" cy="357124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4.6  继承性、层叠性和优先级</a:t>
            </a:r>
          </a:p>
          <a:p>
            <a:r>
              <a:t>4.7  综合案例——制作馨美装修帮助中心局部页面</a:t>
            </a:r>
          </a:p>
          <a:p/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>
                <a:sym typeface="+mn-ea"/>
              </a:rPr>
              <a:t>4.1  CSS3简介</a:t>
            </a:r>
            <a:endParaRPr>
              <a:sym typeface="+mn-ea"/>
            </a:endParaRPr>
          </a:p>
        </p:txBody>
      </p:sp>
      <p:sp>
        <p:nvSpPr>
          <p:cNvPr id="20483" name="文本占位符 1"/>
          <p:cNvSpPr txBox="1"/>
          <p:nvPr/>
        </p:nvSpPr>
        <p:spPr>
          <a:xfrm>
            <a:off x="1833563" y="3246438"/>
            <a:ext cx="9380537" cy="22653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4.1.1  初识CSS3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4.1.2  CSS3的优点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b="1" dirty="0">
                <a:latin typeface="Calibri" panose="020F0502020204030204" pitchFamily="34" charset="0"/>
                <a:cs typeface="Times New Roman" panose="02020603050405020304" pitchFamily="18" charset="0"/>
              </a:rPr>
              <a:t>4.1.3  CSS3的局限性</a:t>
            </a: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b="1" dirty="0">
                <a:latin typeface="Calibri" panose="020F0502020204030204" pitchFamily="34" charset="0"/>
                <a:cs typeface="Times New Roman" panose="02020603050405020304" pitchFamily="18" charset="0"/>
              </a:rPr>
              <a:t>4.1.4  CSS3编写规范</a:t>
            </a: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b="1" dirty="0">
                <a:latin typeface="Calibri" panose="020F0502020204030204" pitchFamily="34" charset="0"/>
                <a:cs typeface="Times New Roman" panose="02020603050405020304" pitchFamily="18" charset="0"/>
              </a:rPr>
              <a:t>4.1.5  CSS3的工作环境</a:t>
            </a: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4.1.1  初识CSS3</a:t>
            </a:r>
            <a:endParaRPr lang="zh-CN" altLang="en-US" b="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23925" y="1447800"/>
            <a:ext cx="10658475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CSS功能强大，CSS的样式设定功能比HTML多，几乎可以定义所有的网页元素。CSS通过对页面结构的风格进行控制，进而控制整个页面的风格。1996年12月，W3C发布了CSS规范的第一个版本CSS 1.0规范，1998年5月，W3C发布了CSS 2.0版本规范，2001年5月，W3C完成了CSS 3.0的工作草案，该草案制定了CSS3的发展路线图，并将CSS3规范分为若干个相互独立的模块单独升级，统称为CSS3，CSS3完全向后兼容。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4.1.2  CSS3的优点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23925" y="1447800"/>
            <a:ext cx="10658475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CSS文档是一种文本文件，通过将其与HTML文档的结合，真正做到将网页的表现与内容分离。具有如下优点：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>
              <a:spcBef>
                <a:spcPct val="0"/>
              </a:spcBef>
              <a:buSzPct val="85000"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  表现和内容（结构）分离。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>
              <a:spcBef>
                <a:spcPct val="0"/>
              </a:spcBef>
              <a:buSzPct val="85000"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  易于维护和改版。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>
              <a:spcBef>
                <a:spcPct val="0"/>
              </a:spcBef>
              <a:buSzPct val="85000"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  缩减页面代码，提高页面浏览速度。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>
              <a:spcBef>
                <a:spcPct val="0"/>
              </a:spcBef>
              <a:buSzPct val="85000"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  结构清晰，容易被搜索引擎搜索到。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>
              <a:spcBef>
                <a:spcPct val="0"/>
              </a:spcBef>
              <a:buSzPct val="85000"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  更好地控制页面布局。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>
              <a:spcBef>
                <a:spcPct val="0"/>
              </a:spcBef>
              <a:buSzPct val="85000"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  提高易用性，使用CSS可以结构化HTML。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4.1.3  CSS3的局限性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23925" y="1447800"/>
            <a:ext cx="10658475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SS的功能虽然很强大，但是也有某些局限性。CSS样式表的主要不足是，其局限于主要对标记文件中的显示内容起作用。显示顺序在某种程度上可以改变，可以插入少量文本内容，但是在源HTML中做较大改变时，用户需要使用另外的方法，例如，使用XSL转换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同样，CSS样式表比HTML出现得要晚，这就意味着一些较老的浏览器不能识别使用CSS编写的样式。另外，浏览器支持的不一致性也导致不同的浏览器显示出不同的CSS版面编排。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4.1.4  CSS3编写规范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23925" y="1447800"/>
            <a:ext cx="10658475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1．目录结构命名规范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存放CSS样式文件的目录一般命名为style或css。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2．样式文件的命名规范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文件一般命名为style.css或css.css。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3．选择符的命名规范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所有选择符必须由小写英文字母或“_”下划线组成，必须以字母开头，不能为纯数字。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4．CSS代码注释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4.1.5  CSS3的工作环境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23925" y="1447800"/>
            <a:ext cx="10658475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1．CSS的显示环境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浏览器是CSS的显示环境。目前，浏览器的种类多种多样，虽然IE、Opera、Chrome、Firefox等主流浏览器都支持CSS，但它们之间仍存在着符合标准的差异。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2．CSS的编辑环境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CSS的编辑方法同HTML一样，可以用任何文本编辑器或网页编辑软件，还可用专门的CSS编辑软件。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4.2  在HTML中引入CSS3样式表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0483" name="文本占位符 1"/>
          <p:cNvSpPr txBox="1"/>
          <p:nvPr/>
        </p:nvSpPr>
        <p:spPr>
          <a:xfrm>
            <a:off x="1833563" y="3246438"/>
            <a:ext cx="9380537" cy="22653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4.2.1  行内样式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4.2.2  内部样式表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4.2.3  链入外部样式表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4.2.4  导入外部样式表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4.2.1  行内样式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行内样式是各种引用CSS方式中最直接的一种，也称内嵌样式表，行内样式的格式为：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	&lt;标签 style="属性:属性值; 属性:属性值; …"&gt;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【例4-1】使用行内样式将样式表功能加入到网页，如图4-1所示。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1755" y="3895090"/>
            <a:ext cx="2009140" cy="285305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4.2.2  内部样式表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内部样式表是指样式表的定义处于HTML文件一个单独的区域，与HTML的具体标签分离开来。内部样式表的格式为：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&lt;style type="text/css"&gt;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&lt;!--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选择符1{属性:属性值; 属性:属性值 …}  /* 注释内容 */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选择符2{属性:属性值; 属性:属性值 …}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…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选择符n{属性:属性值; 属性:属性值 …}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--&gt;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&lt;/style&gt;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4.2.2  内部样式表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【例4-2】使用内部样式表将样式表的功能加入到网页，本例文件4-2.html在浏览器中的显示效果如图4-2所示。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220" y="2779395"/>
            <a:ext cx="2609850" cy="369570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4.2.3  链入外部样式表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链入外部样式表就是当浏览器读取到HTML文档的样式表链接标签时，将向所链接的外部样式表文件索取样式。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1．用&lt;link&gt;标签链接样式表文件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&lt;head&gt;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…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&lt;link rel="stylesheet" href="外部样式表文件名.css" type="text/css"&gt;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…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&lt;/head&gt;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4.2.3  链入外部样式表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2．样式表文件的格式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样式表文件可以用任何文本编辑器（如记事本）打开并编辑，一般样式表文件的扩展名为.css。样式表文件的内容是定义的样式表，不包含HTML标签。样式表文件的格式为：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选择符1{属性:属性值; 属性:属性值 …}      /* 注释内容 */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选择符2{属性:属性值; 属性:属性值 …}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…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选择符n{属性:属性值; 属性:属性值 …}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4.2.3  链入外部样式表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【例4-3】使用链入外部样式表将样式表的功能加入到网页。本例文件4-3.html在浏览器的显示效果如图4-3所示。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885" y="2777490"/>
            <a:ext cx="2602865" cy="370459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4.2.4  导入外部样式表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导入外部样式表是指在内部样式表的&lt;style&gt;标签里导入一个外部样式表，当浏览器读取HTML文件时，复制一份样式表到这个HTML文件中。其格式为：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&lt;style type="text/css"&gt;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&lt;!--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@import url("外部样式表的文件名1.css");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@import url("外部样式表的文件名2.css");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其他样式表的声明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--&gt;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&lt;/style&gt;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4.2.4  导入外部样式表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【例4-4】使用导入外部样式表将样式表的功能加入到网页。本例文件4-4.html在浏览器中的显示效果如图4-4所示。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9650" y="2909570"/>
            <a:ext cx="2642235" cy="363791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4.3  CSS3的基本语法和属性值单位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0483" name="文本占位符 1"/>
          <p:cNvSpPr txBox="1"/>
          <p:nvPr/>
        </p:nvSpPr>
        <p:spPr>
          <a:xfrm>
            <a:off x="1833563" y="3246438"/>
            <a:ext cx="9380537" cy="22653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4.3.1  基本语法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4.3.2  注意事项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4.3.3  长度、百分比单位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4.3.4  色彩单位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4.3.1  基本语法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SS为样式化网页内容提供了一条捷径，即样式规则，每一条规则都是单独的语句。样式表的每个规则都有两个主要部分：选择符（selector）和声明（declaration）。选择符决定哪些因素要受到影响，声明由一个或多个属性值对组成。其语法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	selector{attribute:value}	/*（选择符{属性：属性值}）*/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4.3.2  注意事项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1．属性名和属性值要正确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2．需要加引号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3．多重声明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4．代码的可读性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5．空格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6．大小写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7．选择符的分组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4.3.3  长度、百分比单位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1．长度单位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长度单位有相对长度单位和绝对长度单位两种类型。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相对长度单位是指，以该属性前一个属性的单位值为基础来完成目前的设置。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2．百分比单位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百分比单位也是一种常用的相对类型，通常的参考依据为元素的font-size属性。百分比值总是相对于另一个值来说的，该值可以是长度单位或其他单位。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4.3.4  色彩单位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CSS则提供了四种定义色彩的方法：十六进制数、色彩英文名称、rgb函数和rgba函数。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1．用十六进制数方式表示色彩值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2．用颜色英文名称方式表示色彩值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3．用rgb函数方式表示色彩值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4．用rgba函数方式表示色彩值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标题 3"/>
          <p:cNvSpPr>
            <a:spLocks noGrp="1"/>
          </p:cNvSpPr>
          <p:nvPr>
            <p:ph type="ctrTitle"/>
          </p:nvPr>
        </p:nvSpPr>
        <p:spPr>
          <a:xfrm>
            <a:off x="1981200" y="1506855"/>
            <a:ext cx="9272905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4.4  CSS3的选择符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9155" name="文本占位符 1"/>
          <p:cNvSpPr txBox="1"/>
          <p:nvPr/>
        </p:nvSpPr>
        <p:spPr>
          <a:xfrm>
            <a:off x="1284605" y="3289300"/>
            <a:ext cx="4732655" cy="23260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4.4.1  基本选择符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4.4.2  复合选择符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4.4.3  通配符选择符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4.4.4  伪类选择符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spcBef>
                <a:spcPct val="0"/>
              </a:spcBef>
              <a:buNone/>
              <a:tabLst>
                <a:tab pos="5267325" algn="r"/>
              </a:tabLst>
            </a:pPr>
            <a:endParaRPr lang="zh-CN" altLang="en-US" b="1" dirty="0"/>
          </a:p>
        </p:txBody>
      </p:sp>
      <p:sp>
        <p:nvSpPr>
          <p:cNvPr id="2" name="文本占位符 1"/>
          <p:cNvSpPr txBox="1"/>
          <p:nvPr/>
        </p:nvSpPr>
        <p:spPr>
          <a:xfrm>
            <a:off x="6417310" y="3279775"/>
            <a:ext cx="4732655" cy="23260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4.4.5  伪元素选择符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4.4.6  案例——制作馨美装修网站使用条款页面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spcBef>
                <a:spcPct val="0"/>
              </a:spcBef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4.4.1  基本选择符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1．元素选择符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元素选择符是指以文档对象模型（DOM）作为选择符，即选择某个HTML元素为对象，设置其样式规则。一个HTML页面由许多不同的元素组成，而元素选择符就是声明哪些元素采用哪种CSS样式，每一种HTML元素的名称都可以作为相应的元素选择符的名称。元素选择符就是网页元素本身，定义时直接使用元素名称。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	E {property1: value1; property2: value2; … }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4.4.1  基本选择符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2．class类选择符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class类选择符用来定义HTML页面中需要特殊表现的样式，使用元素的class属性值为一组元素指定样式。其格式为：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&lt;style type="text/css"&gt;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&lt;!--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.类名称1{属性:属性值; 属性:属性值 …}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	…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.类名称n{属性:属性值; 属性:属性值 …}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--&gt;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&lt;/style&gt;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4.4.1  基本选择符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3．id选择符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id选择符用来对某个单一元素定义单独的样式。其格式为：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&lt;style type="text/css"&gt;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&lt;!--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#id名1{属性:属性值; 属性:属性值 …}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#id名2{属性:属性值; 属性:属性值 …}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…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#id名n{属性:属性值; 属性:属性值 …}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--&gt;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&lt;/style&gt;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4.4.2  复合选择符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1．“交集”选择符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“交集”选择符由两个选择符直接连接构成，其结果是选中二者各自元素范围的交集。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【例4-5】“交集”选择符示例，本例文件4-5.html在浏览器中的显示效果如图4-10所示。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6065" y="4295140"/>
            <a:ext cx="3636645" cy="209677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4.4.2  复合选择符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2．“并集”选择符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与“交集”选择符相对应的还有一种“并集”选择符，或者称为“集体声明”。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【例4-6】“并集”选择符示例，本例文件4-6.html在浏览器中的显示效果如图4-12所示。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4980" y="4204335"/>
            <a:ext cx="3037840" cy="221551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4.4.2  复合选择符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3．“后代”选择符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后代选择符又称包含选择符，可以对某个容器层的子层控制，使其他同名的对象不受该规则影响。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【例4-7】“后代”选择符示例，本例文件4-7.html在浏览器中的显示效果如图4-14所示。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9750" y="4151630"/>
            <a:ext cx="3648075" cy="222377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4.4.2  复合选择符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4．子元素选择符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子元素选择符只能选择作为某元素子元素的元素。它与后代选择符最大的不同就是元素间隔不同，后代选择符将该元素作为父元素，它所有的后代元素都是符合条件的，而子元素选择符只有相对于父元素来说的第一级子元素符合条件。其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父元素 &gt; 子元素{property1: value1; property2: value2; … }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4.4.2  复合选择符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5．相邻兄弟选择符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相邻兄弟选择符（Adjacent Sibling Selector）可选择紧接在另一个元素后的元素，并且二者有相同的父元素。与后代选择符和子元素选择符不同的是，相邻兄弟选择符针对的元素是同级元素，且两个元素是相邻的，拥有相同的父元素。其格式为：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兄弟1 + 兄弟2 {property1: value1; property2: value2; … }</a:t>
            </a:r>
            <a:endParaRPr lang="en-US" altLang="zh-CN" sz="215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4.4.2  复合选择符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5．相邻兄弟选择符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【例4-8】相邻兄弟选择符示例，本例文件4-8.html在浏览器中的显示效果如图4-16所示。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9290" y="2948305"/>
            <a:ext cx="2939415" cy="343916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4.4.2  复合选择符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6．兄弟选择符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兄弟选择符使用了波浪号（~），其格式为：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	E~F：{att}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【例4-9】兄弟选择器示例。本例文件4-9.html在浏览器中的显示效果如图4-17所示。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3975" y="3926840"/>
            <a:ext cx="2713355" cy="261112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4.4.3  通配符选择符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通配符选择符是一种特殊的选择符，用“*”表示。通配符选择符也称全局选择符，其作用是定义网页中所有标记元素都使用同一种样式。其格式为：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	* {property1: value1; property2: value2; … }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4.4.4  伪类选择符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伪类是指那些处在特殊状态的元素。伪类名可以单独使用，泛指所有元素，也可以和元素名称连起来使用，特指某类元素。伪类以冒号（:）开头，元素选择符和冒号之间不能有空格，伪类名中间也不能有空格。伪类选择符的语法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selector:pseudo-class {property1: value1; property2: value2; …}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4.4.4  伪类选择符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4-10】伪类的应用。当鼠标指针悬停在超链接时背景色变为其他颜色，并且文字变大，待鼠标指针离开超链接时又恢复到默认状态，这种效果就可以通过伪类实现。本例文件4-10.html在浏览器中的显示效果如图4-19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6835" y="4137025"/>
            <a:ext cx="9685655" cy="240601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4.4.4  伪类选择符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【例4-11】:first-child伪类示例。使用:first-child伪类选择元素的第一个子元素。本例文件4-11.html在浏览器中的显示效果如图4-20所示。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7525" y="3324225"/>
            <a:ext cx="4372610" cy="295529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4.4.5  伪元素选择符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CSS3为了区分伪类和伪元素，规定伪类用一个冒号（:）来表示，伪元素用两个冒号（::）来表示。伪元素由双冒号和伪元素名称组成。伪元素的语法格式为：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selector::pseudo-element {property1: value1; property2: value2; … }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CSS类也可以与伪元素配合使用，此时伪元素的语法格式为：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algn="l"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selector.class::pseudo-element {property1: value1; property2: value2; …}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4.4.5  伪元素选择符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【例4-12】伪元素的应用。本例文件4-12.html在浏览器中的显示效果如图4-21所示。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5570" y="3164205"/>
            <a:ext cx="4640580" cy="283972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4.4.6  案例——制作馨美装修网站使用条款页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【例4-13】制作馨美装修网站使用条款页面。本例文件4-13.html在浏览器中的显示效果如图4-22所示。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3650" y="2907665"/>
            <a:ext cx="7125335" cy="343789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标题 3"/>
          <p:cNvSpPr>
            <a:spLocks noGrp="1"/>
          </p:cNvSpPr>
          <p:nvPr>
            <p:ph type="ctrTitle"/>
          </p:nvPr>
        </p:nvSpPr>
        <p:spPr>
          <a:xfrm>
            <a:off x="1981200" y="1506855"/>
            <a:ext cx="914019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4.5  文档结构与元素类型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9155" name="文本占位符 1"/>
          <p:cNvSpPr txBox="1"/>
          <p:nvPr/>
        </p:nvSpPr>
        <p:spPr>
          <a:xfrm>
            <a:off x="1284288" y="3289300"/>
            <a:ext cx="10363200" cy="23256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4.5.1  文档结构的基本概念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4.5.2  元素类型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4.5.1  文档结构的基本概念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【例4-14】文档结构示例，本例文件4-14.html在浏览器中的显示效果如图4-23所示。元素间的层次关系可以用图4-24的树形结构来描述。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0120" y="3425825"/>
            <a:ext cx="7172325" cy="298132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4.5.2  元素类型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1．块级元素（display:block）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2．行内元素（display:inline）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3．列表项元素（display:list-item）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4．隐藏元素（display:none）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5．其他分类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display : inline-table | run-in | table | table-caption | table-cell | table-column | table-column-group | table-row | table-row-group | inherit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标题 3"/>
          <p:cNvSpPr>
            <a:spLocks noGrp="1"/>
          </p:cNvSpPr>
          <p:nvPr>
            <p:ph type="ctrTitle"/>
          </p:nvPr>
        </p:nvSpPr>
        <p:spPr>
          <a:xfrm>
            <a:off x="1981200" y="1506855"/>
            <a:ext cx="914019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4.6  继承性、层叠性和优先级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9155" name="文本占位符 1"/>
          <p:cNvSpPr txBox="1"/>
          <p:nvPr/>
        </p:nvSpPr>
        <p:spPr>
          <a:xfrm>
            <a:off x="1284605" y="3289300"/>
            <a:ext cx="4802505" cy="23260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4.6.1  继承性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4.6.2  层叠性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4.6.3  优先级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4.6.1  继承性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继承是指包含在内部的标签能够拥有外部标签的样式性，即子元素可以继承父元素的属性。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【例4-15】CSS继承示例，本例文件4-15.html在浏览器中的显示效果如图4-25所示。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6425" y="3653790"/>
            <a:ext cx="3528695" cy="286194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4.6.2  层叠性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层叠（cascade）是指CSS能够对同一个元素应用多个样式表的能力。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【例4-16】样式表的层叠示例。本例文件4-16.html在浏览器中的显示效果如图4-26所示。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7810" y="4342130"/>
            <a:ext cx="4632325" cy="212407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4.6.3  优先级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1．特殊性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在编写CSS代码的时候，会出现多个样式规则作用于同一个元素的情况，特殊性描述了不同规则的相对权重，当多个规则应用到同一个元素时权重越大的样式会被优先采用。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2．重要性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不同的选择符定义相同的元素时，要考虑不同选择符之间的优先级，id选择符的优先级最高，其次是类选择符，HTML标签选择符最低。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标题 3"/>
          <p:cNvSpPr>
            <a:spLocks noGrp="1"/>
          </p:cNvSpPr>
          <p:nvPr>
            <p:ph type="ctrTitle"/>
          </p:nvPr>
        </p:nvSpPr>
        <p:spPr>
          <a:xfrm>
            <a:off x="1981200" y="1506855"/>
            <a:ext cx="914019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4.7  综合案例——制作馨美装修帮助中心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  <p:transition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4.7  综合案例——制作馨美装修帮助中心局部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【例4-17】制作馨美装修帮助中心局部页面，本例文件4-17.html在浏览器中的显示效果如图4-28所示。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1095" y="3051175"/>
            <a:ext cx="7370445" cy="264287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习题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4</a:t>
            </a:r>
            <a:endParaRPr lang="en-US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1．使用文档结构的基本知识制作如图4-29所示的页面。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2．使用伪类相关的知识制作鼠标悬停效果。当鼠标未悬停在链接上时，显示如图4-30左图所示，当鼠标悬停在链接上时，显示如图4-30右图所示。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3．使用CSS制作馨美装修博客文章页面，如图4-31所示。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4．使用CSS制作馨美装修摄影社区页面，如图4-32所示。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tags/tag1.xml><?xml version="1.0" encoding="utf-8"?>
<p:tagLst xmlns:p="http://schemas.openxmlformats.org/presentationml/2006/main">
  <p:tag name="COMMONDATA" val="eyJoZGlkIjoiYzZjOTM1MTZkYjlhMDFiZTJlZWZhNTQ1YWMzMjI1NDI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镶边</Template>
  <TotalTime>0</TotalTime>
  <Words>6457</Words>
  <Application>WPS 演示</Application>
  <PresentationFormat>宽屏</PresentationFormat>
  <Paragraphs>357</Paragraphs>
  <Slides>51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51</vt:i4>
      </vt:variant>
    </vt:vector>
  </HeadingPairs>
  <TitlesOfParts>
    <vt:vector size="66" baseType="lpstr">
      <vt:lpstr>Arial</vt:lpstr>
      <vt:lpstr>宋体</vt:lpstr>
      <vt:lpstr>Wingdings</vt:lpstr>
      <vt:lpstr>Calibri</vt:lpstr>
      <vt:lpstr>Franklin Gothic Book</vt:lpstr>
      <vt:lpstr>幼圆</vt:lpstr>
      <vt:lpstr>Wingdings 2</vt:lpstr>
      <vt:lpstr>微软雅黑</vt:lpstr>
      <vt:lpstr>Times New Roman</vt:lpstr>
      <vt:lpstr>Perpetua</vt:lpstr>
      <vt:lpstr>Arial Unicode MS</vt:lpstr>
      <vt:lpstr>幼圆</vt:lpstr>
      <vt:lpstr>黑体</vt:lpstr>
      <vt:lpstr>平衡</vt:lpstr>
      <vt:lpstr>1_平衡</vt:lpstr>
      <vt:lpstr>PowerPoint 演示文稿</vt:lpstr>
      <vt:lpstr>第1章  HTML5基础</vt:lpstr>
      <vt:lpstr>目录</vt:lpstr>
      <vt:lpstr>1.1 Web的基本概念</vt:lpstr>
      <vt:lpstr>1.1.1  WWW</vt:lpstr>
      <vt:lpstr>2.1.1  元信息元素</vt:lpstr>
      <vt:lpstr>2.1.2  语义元素</vt:lpstr>
      <vt:lpstr>4.1.3  CSS3的局限性</vt:lpstr>
      <vt:lpstr>4.1.4  CSS3编写规范</vt:lpstr>
      <vt:lpstr>1.2  网站与网页</vt:lpstr>
      <vt:lpstr>1.2.1  网站、网页和主页</vt:lpstr>
      <vt:lpstr>1.2.2  静态网页和动态网页</vt:lpstr>
      <vt:lpstr>4.2.2  内部样式表</vt:lpstr>
      <vt:lpstr>4.2.2  内部样式表</vt:lpstr>
      <vt:lpstr>4.2.3  链入外部样式表</vt:lpstr>
      <vt:lpstr>4.2.3  链入外部样式表</vt:lpstr>
      <vt:lpstr>4.2.3  链入外部样式表</vt:lpstr>
      <vt:lpstr>4.2.4  导入外部样式表</vt:lpstr>
      <vt:lpstr>1.3  Web标准</vt:lpstr>
      <vt:lpstr>1.3.1  Web标准简介</vt:lpstr>
      <vt:lpstr>3.3.1  基本语法</vt:lpstr>
      <vt:lpstr>3.3.2  span与div的异同</vt:lpstr>
      <vt:lpstr>4.3.3  长度、百分比单位</vt:lpstr>
      <vt:lpstr>1.4  认识HTML5+CSS3+JavaScript技术组合</vt:lpstr>
      <vt:lpstr>1.4.1  HTML5简介</vt:lpstr>
      <vt:lpstr>4.4.1  基本选择符</vt:lpstr>
      <vt:lpstr>4.4.1  基本选择符</vt:lpstr>
      <vt:lpstr>1.4.1  HTML5简介</vt:lpstr>
      <vt:lpstr>4.4.2  复合选择符</vt:lpstr>
      <vt:lpstr>4.4.2  复合选择符</vt:lpstr>
      <vt:lpstr>4.4.2  复合选择符</vt:lpstr>
      <vt:lpstr>4.4.2  复合选择符</vt:lpstr>
      <vt:lpstr>4.4.2  复合选择符</vt:lpstr>
      <vt:lpstr>4.4.2  复合选择符</vt:lpstr>
      <vt:lpstr>3.4.2  nav元素</vt:lpstr>
      <vt:lpstr>3.4.3  header元素</vt:lpstr>
      <vt:lpstr>4.4.4  伪类选择符</vt:lpstr>
      <vt:lpstr>4.4.4  伪类选择符</vt:lpstr>
      <vt:lpstr>3.4.4  footer元素</vt:lpstr>
      <vt:lpstr>4.4.5  伪元素选择符</vt:lpstr>
      <vt:lpstr>3.4.5  article元素</vt:lpstr>
      <vt:lpstr>1.5  HTML5语法基础</vt:lpstr>
      <vt:lpstr>1.5.1  HTML5语法结构</vt:lpstr>
      <vt:lpstr>2.5.1  mark元素</vt:lpstr>
      <vt:lpstr>2.5  文本层次语义元素</vt:lpstr>
      <vt:lpstr>2.5.3  time元素</vt:lpstr>
      <vt:lpstr>2.6.1  标题元素</vt:lpstr>
      <vt:lpstr>3.6.2  基本表格</vt:lpstr>
      <vt:lpstr>2.5  文本层次语义元素</vt:lpstr>
      <vt:lpstr>2.6.5  案例——制作馨美装修网购向导页面</vt:lpstr>
      <vt:lpstr>习题1</vt:lpstr>
    </vt:vector>
  </TitlesOfParts>
  <Company>Neusoft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Lixin Ma</dc:creator>
  <cp:lastModifiedBy>回归法师</cp:lastModifiedBy>
  <cp:revision>983</cp:revision>
  <dcterms:created xsi:type="dcterms:W3CDTF">2013-04-09T00:17:00Z</dcterms:created>
  <dcterms:modified xsi:type="dcterms:W3CDTF">2022-09-29T07:24:06Z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4E16690F1FE44926910B21FB2437CB6F</vt:lpwstr>
  </property>
  <property fmtid="{D5CDD505-2E9C-101B-9397-08002B2CF9AE}" pid="3" name="KSOProductBuildVer">
    <vt:lpwstr>2052-11.1.0.12358</vt:lpwstr>
  </property>
</Properties>
</file>