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6"/>
  </p:notesMasterIdLst>
  <p:sldIdLst>
    <p:sldId id="660" r:id="rId4"/>
    <p:sldId id="603" r:id="rId5"/>
    <p:sldId id="566" r:id="rId6"/>
    <p:sldId id="568" r:id="rId7"/>
    <p:sldId id="580" r:id="rId8"/>
    <p:sldId id="714" r:id="rId9"/>
    <p:sldId id="715" r:id="rId10"/>
    <p:sldId id="769" r:id="rId11"/>
    <p:sldId id="770" r:id="rId12"/>
    <p:sldId id="791" r:id="rId13"/>
    <p:sldId id="569" r:id="rId14"/>
    <p:sldId id="666" r:id="rId15"/>
    <p:sldId id="667" r:id="rId17"/>
    <p:sldId id="771" r:id="rId18"/>
    <p:sldId id="772" r:id="rId19"/>
    <p:sldId id="773" r:id="rId20"/>
    <p:sldId id="774" r:id="rId21"/>
    <p:sldId id="775" r:id="rId22"/>
    <p:sldId id="776" r:id="rId23"/>
    <p:sldId id="792" r:id="rId24"/>
    <p:sldId id="570" r:id="rId25"/>
    <p:sldId id="668" r:id="rId26"/>
    <p:sldId id="793" r:id="rId27"/>
    <p:sldId id="749" r:id="rId28"/>
    <p:sldId id="794" r:id="rId29"/>
    <p:sldId id="777" r:id="rId30"/>
    <p:sldId id="795" r:id="rId31"/>
    <p:sldId id="796" r:id="rId32"/>
    <p:sldId id="797" r:id="rId33"/>
    <p:sldId id="798" r:id="rId34"/>
    <p:sldId id="799" r:id="rId35"/>
    <p:sldId id="800" r:id="rId36"/>
    <p:sldId id="801" r:id="rId37"/>
    <p:sldId id="571" r:id="rId38"/>
    <p:sldId id="672" r:id="rId39"/>
    <p:sldId id="778" r:id="rId40"/>
    <p:sldId id="779" r:id="rId41"/>
    <p:sldId id="673" r:id="rId42"/>
    <p:sldId id="780" r:id="rId43"/>
    <p:sldId id="781" r:id="rId44"/>
    <p:sldId id="802" r:id="rId45"/>
    <p:sldId id="572" r:id="rId46"/>
    <p:sldId id="676" r:id="rId47"/>
    <p:sldId id="717" r:id="rId48"/>
    <p:sldId id="803" r:id="rId49"/>
    <p:sldId id="804" r:id="rId50"/>
    <p:sldId id="805" r:id="rId51"/>
    <p:sldId id="806" r:id="rId52"/>
    <p:sldId id="807" r:id="rId53"/>
    <p:sldId id="707" r:id="rId54"/>
    <p:sldId id="719" r:id="rId55"/>
    <p:sldId id="720" r:id="rId56"/>
    <p:sldId id="758" r:id="rId57"/>
    <p:sldId id="809" r:id="rId58"/>
    <p:sldId id="810" r:id="rId59"/>
    <p:sldId id="811" r:id="rId60"/>
    <p:sldId id="789" r:id="rId61"/>
    <p:sldId id="725" r:id="rId62"/>
    <p:sldId id="812" r:id="rId63"/>
    <p:sldId id="813" r:id="rId64"/>
    <p:sldId id="814" r:id="rId65"/>
    <p:sldId id="815" r:id="rId66"/>
    <p:sldId id="816" r:id="rId67"/>
    <p:sldId id="817" r:id="rId68"/>
    <p:sldId id="818" r:id="rId69"/>
    <p:sldId id="819" r:id="rId70"/>
    <p:sldId id="790" r:id="rId71"/>
    <p:sldId id="820" r:id="rId72"/>
    <p:sldId id="821" r:id="rId73"/>
    <p:sldId id="695" r:id="rId74"/>
  </p:sldIdLst>
  <p:sldSz cx="12192000" cy="6858000"/>
  <p:notesSz cx="6858000" cy="9144000"/>
  <p:custDataLst>
    <p:tags r:id="rId78"/>
  </p:custDataLst>
  <p:defaultTextStyle>
    <a:defPPr>
      <a:defRPr lang="zh-CN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B4E6"/>
    <a:srgbClr val="D34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/>
    <p:restoredTop sz="94660"/>
  </p:normalViewPr>
  <p:slideViewPr>
    <p:cSldViewPr snapToGrid="0" snapToObjects="1" showGuides="1">
      <p:cViewPr varScale="1">
        <p:scale>
          <a:sx n="116" d="100"/>
          <a:sy n="116" d="100"/>
        </p:scale>
        <p:origin x="336" y="108"/>
      </p:cViewPr>
      <p:guideLst>
        <p:guide orient="horz" pos="207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8" Type="http://schemas.openxmlformats.org/officeDocument/2006/relationships/tags" Target="tags/tag1.xml"/><Relationship Id="rId77" Type="http://schemas.openxmlformats.org/officeDocument/2006/relationships/tableStyles" Target="tableStyles.xml"/><Relationship Id="rId76" Type="http://schemas.openxmlformats.org/officeDocument/2006/relationships/viewProps" Target="viewProps.xml"/><Relationship Id="rId75" Type="http://schemas.openxmlformats.org/officeDocument/2006/relationships/presProps" Target="presProps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763645" y="715645"/>
            <a:ext cx="4814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smtClean="0"/>
              <a:t>面向新工科普通高等教育系列</a:t>
            </a:r>
            <a:r>
              <a:rPr lang="zh-CN" altLang="zh-CN" sz="2400"/>
              <a:t>教材</a:t>
            </a:r>
            <a:endParaRPr lang="zh-CN" altLang="zh-CN" sz="2400"/>
          </a:p>
        </p:txBody>
      </p:sp>
      <p:sp>
        <p:nvSpPr>
          <p:cNvPr id="21" name="文本框 20"/>
          <p:cNvSpPr txBox="1"/>
          <p:nvPr/>
        </p:nvSpPr>
        <p:spPr>
          <a:xfrm>
            <a:off x="9003665" y="5825490"/>
            <a:ext cx="2230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2000" b="1" kern="1200" cap="none" spc="300" normalizeH="0" baseline="0" noProof="0" smtClean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机械工业出</a:t>
            </a:r>
            <a:r>
              <a:rPr kumimoji="0" lang="zh-CN" altLang="en-US" sz="2000" b="1" kern="1200" cap="none" spc="300" normalizeH="0" baseline="0" noProof="0" dirty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版社</a:t>
            </a:r>
            <a:endParaRPr kumimoji="0" lang="zh-CN" altLang="en-US" sz="2000" b="1" kern="1200" cap="none" spc="300" normalizeH="0" baseline="0" noProof="0" dirty="0">
              <a:solidFill>
                <a:srgbClr val="D34817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6152" y="1656298"/>
            <a:ext cx="102279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网页设计与制作教程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（HTML+CSS+JavaScript）第3版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3"/>
          <p:cNvSpPr>
            <a:spLocks noGrp="1"/>
          </p:cNvSpPr>
          <p:nvPr>
            <p:ph type="ctrTitle"/>
          </p:nvPr>
        </p:nvSpPr>
        <p:spPr>
          <a:xfrm>
            <a:off x="609600" y="1506538"/>
            <a:ext cx="10972800" cy="1470025"/>
          </a:xfrm>
        </p:spPr>
        <p:txBody>
          <a:bodyPr vert="horz" wrap="square" lIns="91440" tIns="45720" rIns="91440" bIns="91440" anchor="ctr" anchorCtr="0"/>
          <a:p>
            <a:pPr>
              <a:buClrTx/>
              <a:buSzTx/>
              <a:buFontTx/>
              <a:buNone/>
            </a:pPr>
            <a:r>
              <a:rPr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第5章  使用CSS3修饰网页元素</a:t>
            </a:r>
            <a:endParaRPr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195" name="Rectangle 1"/>
          <p:cNvSpPr>
            <a:spLocks noGrp="1"/>
          </p:cNvSpPr>
          <p:nvPr>
            <p:ph type="body" idx="1"/>
          </p:nvPr>
        </p:nvSpPr>
        <p:spPr>
          <a:xfrm>
            <a:off x="601345" y="2548255"/>
            <a:ext cx="5260340" cy="3571240"/>
          </a:xfrm>
        </p:spPr>
        <p:txBody>
          <a:bodyPr/>
          <a:p>
            <a:r>
              <a:t>5.1  CSS3字体属性</a:t>
            </a:r>
          </a:p>
          <a:p>
            <a:r>
              <a:t>5.2  CSS3文本属性</a:t>
            </a:r>
          </a:p>
          <a:p>
            <a:r>
              <a:t>5.3  CSS3背景属性</a:t>
            </a:r>
          </a:p>
          <a:p>
            <a:r>
              <a:t>5.4  CSS3尺寸属性</a:t>
            </a:r>
          </a:p>
          <a:p>
            <a:r>
              <a:t>5.5  CSS3列表属性</a:t>
            </a:r>
          </a:p>
          <a:p/>
        </p:txBody>
      </p:sp>
      <p:sp>
        <p:nvSpPr>
          <p:cNvPr id="4" name="Rectangle 1"/>
          <p:cNvSpPr>
            <a:spLocks noGrp="1"/>
          </p:cNvSpPr>
          <p:nvPr/>
        </p:nvSpPr>
        <p:spPr>
          <a:xfrm>
            <a:off x="6066155" y="2538095"/>
            <a:ext cx="5260340" cy="35712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5.6  CSS3表格属性</a:t>
            </a:r>
          </a:p>
          <a:p>
            <a:r>
              <a:t>5.7  CSS3属性的应用</a:t>
            </a:r>
          </a:p>
          <a:p>
            <a:r>
              <a:t>5.8  综合案例—制作馨美装修网购学堂页面</a:t>
            </a:r>
          </a:p>
          <a:p/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>
                <a:sym typeface="+mn-ea"/>
              </a:rPr>
              <a:t>5.1  CSS3字体属性</a:t>
            </a:r>
            <a:endParaRPr>
              <a:sym typeface="+mn-ea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563" y="3246438"/>
            <a:ext cx="9380537" cy="22653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5.1.1  字体类型属性font-family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5.1.2  字体尺寸属性font-size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5.1.3  字体倾斜属性font-style</a:t>
            </a: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5.1.4  小写字体属性font-variant</a:t>
            </a: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b="1" dirty="0">
                <a:latin typeface="Calibri" panose="020F0502020204030204" pitchFamily="34" charset="0"/>
                <a:cs typeface="Times New Roman" panose="02020603050405020304" pitchFamily="18" charset="0"/>
              </a:rPr>
              <a:t>5.1.5  字体粗细font-weight</a:t>
            </a: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5.1.1  字体类型属性font-family</a:t>
            </a:r>
            <a:endParaRPr lang="zh-CN" altLang="en-US" b="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font-family属性设置文本元素的字体类型。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font-family : name1, name2,…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参数：name是字体名称。字体名称按优先顺序排列，以逗号隔开。如果字体名称包含空格，则要用引号括起。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说明：用font-family属性可控制显示字体。不同的操作系统，其字体名是不同的。对于Windows系统，其字体名就如Word的“字体”列表中所列出的字体名称一样。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5.1.2  字体尺寸属性font-size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font-size属性设置字体的大小，实际上它设置的是字体中字符框的高度，实际的字符字体可能比这些框高或低。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font-size : absolute-size | relative-size | length | percentage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参数：其值可以是绝对值也可以是相对值。它的取值有以下几种。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5.1.3  字体倾斜属性font-style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font-style属性设置字体的倾斜。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font-style : normal | italic | oblique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参数：normal为正常字体（默认值），italic为斜体，对于没有斜体变量的特殊字体，将应用oblique。oblique为倾斜的字体。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5.1.4  小写字体属性font-variant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font-variant设置元素中的文本是否为小型的大写字母。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font-variant : normal | small-caps 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参数：normal默认为正常的字体。small-caps设置将使所有的小写字母转换为大写字母字体，但是所有使用小型大写字体的字母与其余文本相比，其字体尺寸更小。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5.1.5  字体粗细font-weight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font-weight属性设置元素中文本字体的粗细。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font-weight : normal | bold | bolder | lighter | number 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参数：normal是正常的字体，相当于number为400，声明此值将取消之前的任何设置。bold表示粗体，相当于number为700，也相当于html b加粗元素的作用。bolder表示粗体再加粗，即特粗体。lighter表示比默认字体还细。number数字越大字体越粗，包括100、200、300、400、500、600、700、800和900。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5.1.5  字体粗细font-weight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10658475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【例5-1】设置字体样式示例。本例文件5-1.html在浏览器中的显示效果如图5-1所示。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3175" y="2779395"/>
            <a:ext cx="4456430" cy="348742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5.2  CSS3文本属性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880" y="3246755"/>
            <a:ext cx="43783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5.2.1  文本颜色属性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5.2.2  行高属性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5.2.3  文本水平对齐方式属性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5.2.4  为文本添加修饰属性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  <p:sp>
        <p:nvSpPr>
          <p:cNvPr id="2" name="文本占位符 1"/>
          <p:cNvSpPr txBox="1"/>
          <p:nvPr/>
        </p:nvSpPr>
        <p:spPr>
          <a:xfrm>
            <a:off x="6717030" y="3246755"/>
            <a:ext cx="43783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5.2.5  段落首行缩进属性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5.2.6  文本的阴影属性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5.2.7  元素内部的空白属性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5.2.8  文本的截断效果属性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5.2.1  文本颜色属性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color属性设置文本的颜色。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color: color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参数：color指定颜色，颜色取值前面已经介绍过，颜色值可以使用多种书写方式，可以用颜色英文名称，也可以用十六进制数，还可以是rgb函数。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5.2.2  行高属性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line-height属性设置元素的行高，即字体底端与字体内部顶端之间的距离。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line-height : length | normal | inherit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参数：length为由百分比数字或由数值、单位标识符组成的长度值，允许为负值。其百分比取值基于字体的高度尺寸。normal为默认行高。inherit为从父元素继承line-height设置。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5.2.3  文本水平对齐方式属性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使用text-align属性可以设置元素中文本的水平对齐方式。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text-align : left | right | center | justify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参数：left为左对齐，right为右对齐，center为居中，justify为两端对齐。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说明：设置对象中文本的对齐方式。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5.2.4  为文本添加修饰属性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使用CSS样式可以对文本进行简单的修饰，text属性所提供的text-decoration属性，主要实现文本加下画线、顶线、删除线及文本闪烁等效果。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text-decoration : none | underline | blink | overline | line-through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参数：none为无装饰。underline为下画线，blink为闪烁，overline为上画线，line-through为删除线。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5.2.5  段落首行缩进属性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text-indent属性用于设置文本块首行文本的缩进。可以为所有块级元素应用text-indent，但不能应用于行级元素。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text-indent : length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参数：length为百分比数字或由浮点数字、单位标识符组成的长度值，允许为负值。它的属性可以是固定的长度值，也可以是相对于父元素宽度的百分比，默认值为0。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5.2.6  文本的阴影属性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text-shadow设置对象中文本的文字是否有阴影及模糊效果。普通文本默认是没有阴影的。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text-shadow : x_position_length || y_position_length || blur || color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参数：一条阴影的属性值有4个属性。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5.2.7  元素内部的空白属性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white-space属性设置元素内空格的处理方式。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white-space : normal | pre | nowrap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normal是默认处理方式。pre用等宽字体显示预先格式化样式的文本，不合并字间的空白距离和进行两端对齐，空白被浏览器保留，等同pre元素。nowrap强制在同一行内显示所有文本，直到文本结束或遭遇br对象为止，参阅td、div等对象的nowrap属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5.2.8  文本的截断效果属性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text-overflow属性可以实现文本的截断效果。本属性需要配合overflow:hidden和white-space:nowrap才能生效。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text-overflow : clip | ellipsis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参数：clip定义简单的裁切，不显示省略标记（…）。ellipsis定义当文本溢出时显示省略标记。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5.2.8  文本的截断效果属性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【例5-2】设置文本样式示例。本例文件5-2.html在浏览器中的显示效果如图5-3所示。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7995" y="2813685"/>
            <a:ext cx="3710305" cy="336740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5.3  CSS3背景属性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" name="文本占位符 1"/>
          <p:cNvSpPr txBox="1"/>
          <p:nvPr/>
        </p:nvSpPr>
        <p:spPr>
          <a:xfrm>
            <a:off x="1833880" y="3246755"/>
            <a:ext cx="43783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5.3.1  背景颜色属性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5.3.2  背景图像属性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5.3.3  重复背景图像属性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5.3.4  固定背景图像属性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  <p:sp>
        <p:nvSpPr>
          <p:cNvPr id="3" name="文本占位符 1"/>
          <p:cNvSpPr txBox="1"/>
          <p:nvPr/>
        </p:nvSpPr>
        <p:spPr>
          <a:xfrm>
            <a:off x="6717030" y="3246755"/>
            <a:ext cx="43783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5.3.5  背景图像位置属性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5.3.6  背景图像大小属性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5.3.7  背景属性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5.3.8  背景图像起点属性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5.3.1  背景颜色属性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background-color属性用于设置背景颜色，可以设置任何有效的颜色值。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background-color : color | transparent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参数：color指定颜色，颜色取值前面已经介绍过，颜色值可以使用多种书写方式，可以用颜色英文名，也可以用十六进制数，还可以是rgb函数。transparent表示透明的意思，也是浏览器的默认值。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5.3.1  背景颜色属性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【例5-3】设置元素的背景颜色示例。本例文件5-3.html在浏览器中的显示效果如图5-4所示。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4930" y="2914015"/>
            <a:ext cx="3910965" cy="294703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5.3.2  背景图像属性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用background-image设置背景图像，background-image还可以设置线性渐变等效果。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background-image : none | url(url), url(url),… | linear-gradient | radial-gradient | repeating- linear-gradient | repeating-radial-gradient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参数：默认值为none，表示不加载图像，无背景图。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5.3.2  背景图像属性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【例5-4】设置背景图像示例。本例文件5-4.html在浏览器中的显示效果如图5-5所示。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800" y="2910205"/>
            <a:ext cx="3234690" cy="353187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5.3.3  重复背景图像属性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在默认情况下，图像会自动向水平和竖直两个方向平铺。可以使用background-repeat属性来控制。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background-repeat : repeat | no-repeat | repeat-x | repeat-y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参数：repeat表示背景图像在水平和垂直方向平铺，是默认值；repeat-x表示背景图像在水平方向平铺；repeat-y表示背景图像在垂直方向平铺；no-repeat表示背景图像不平铺。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5.3.3  重复背景图像属性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【例5-5】设置重复背景图像示例。本例文件5-5a.html、5-5b.html、5-5c.html、5-5d.html在浏览器显示效果如图5-6所示。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3422650"/>
            <a:ext cx="9344660" cy="242887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5.3.4  固定背景图像属性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如果希望背景图像固定在屏幕的某一位置，不随着滚动条移动，则可以使用background- attachment属性来设置。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background-attachment : scroll | fixed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参数：background-attachment属性有两个属性值，其中，scroll设置图像随页面元素一起滚动（默认值），fixed设置图像固定在屏幕上，不随页面元素滚动。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5.3.5  背景图像位置属性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当在网页中插入背景图像时，插入图像的位置默认都是位于网页的左上角，可以通过background-position属性来改变图像的插入位置。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background-position : position position | length length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5.3.6  背景图像大小属性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在CSS3之前，背景图像的尺寸是由图像的实际尺寸决定的。在CSS3中，可以规定背景图像的尺寸。background-size属性设置背景图像的大小。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background-size : [ length | percentage | auto ]{1,2} | cover | contain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参数：auto为默认值，保持背景图像的原始高度和宽度。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5.3.7  背景属性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background是简写属性，可以在一个样式中将属性值直接用空格拼接，作为background的属性值即可。还可以直接设置inherit，从父元素继承。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background : background-color | background-image | background-repeat | background-attachment | background-position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参数：该属性是复合属性。请参阅各参数对应的属性。默认值为transparent none repeat scroll 0% 0%。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5.3.8  背景图像起点属性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background-origin属性规定background-position属性相对于什么位置来定位。如果背景图像的background-attachment属性为fixed，则该属性没有效果。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background-origin: padding-box | border-box | content-box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参数：border-box设置背景图像起点在外边框的左上角。padding-box设置背景图像起点在内边距框的左上角，是默认值。content-box设置背景图像起点在内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5.3.8  背景图像起点属性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【例5-6】背景图像起点属性示例。本例文件5-6.html在浏览器中的显示效果如图5-8所示。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265" y="2318385"/>
            <a:ext cx="2081530" cy="408368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272905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5.4  CSS3尺寸属性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605" y="3289300"/>
            <a:ext cx="473265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5.4.1  宽度属性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5.4.2  高度属性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5.4.3  最小宽度属性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5.4.4  最大宽度属性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spcBef>
                <a:spcPct val="0"/>
              </a:spcBef>
              <a:buNone/>
              <a:tabLst>
                <a:tab pos="5267325" algn="r"/>
              </a:tabLst>
            </a:pPr>
            <a:endParaRPr lang="zh-CN" altLang="en-US" b="1" dirty="0"/>
          </a:p>
        </p:txBody>
      </p:sp>
      <p:sp>
        <p:nvSpPr>
          <p:cNvPr id="2" name="文本占位符 1"/>
          <p:cNvSpPr txBox="1"/>
          <p:nvPr/>
        </p:nvSpPr>
        <p:spPr>
          <a:xfrm>
            <a:off x="6417310" y="3279775"/>
            <a:ext cx="473265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5.4.5  最小高度属性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5.4.6  最大高度属性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spcBef>
                <a:spcPct val="0"/>
              </a:spcBef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5.4.1  宽度属性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width属性设置元素的宽度。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width : auto | length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参数：默认值auto无特殊定位，是HTML定位规则的宽度。length由浮点数字和单位标识符组成的长度值或百分数。百分数是基于父级对象的宽度，不可为负数。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5.4.2  高度属性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height属性设置对象的高度。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height : auto | length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参数：auto默认无特殊定位，根据HTML定位规则确定高度。length是由浮点数字和单位标识符组成的长度值或百分数。百分数是基于父级对象的高度，不可为负数。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5.4.3  最小宽度属性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min-width属性设置元素的最小宽度。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min-width : none | length 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参数：none默认无最小宽度限制。length是由浮点数字和单位标识符组成的长度值或百分数，不可为负数。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5.4.4  最大宽度属性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max-width属性设置元素的最大宽度。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max-width : none | length</a:t>
            </a:r>
            <a:r>
              <a:rPr lang="en-US" altLang="zh-CN" sz="2800" kern="1200" dirty="0">
                <a:latin typeface="+mn-lt"/>
                <a:ea typeface="+mn-ea"/>
                <a:cs typeface="+mn-cs"/>
              </a:rPr>
              <a:t> 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参数：none默认无最大宽度限制。length是由浮点数字和单位标识符组成的长度值或百分数，不可为负数。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5.4.5  最小高度属性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min-height属性设置元素的最小高度。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min-height : none | length 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参数：none默认无最小高度限制。length是由浮点数字和单位标识符组成的长度值或百分数，不可为负数。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5.4.6  最大高度属性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max-height属性设置元素的最大高度。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max-height : none | length 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参数：none默认无最大高度限制。length是由浮点数字和单位标识符组成的长度值或百分数，不可为负数。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5.4.6  最大高度属性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【例5-7】设置尺寸属性示例。本例文件5-7.html在浏览器中的显示效果如图5-10所示。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8090" y="3051810"/>
            <a:ext cx="5441950" cy="324612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5.5  CSS3列表属性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288" y="3289300"/>
            <a:ext cx="10363200" cy="232568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5.5.1  图像作为列表项的标记属性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5.5.2  列表项标记的位置属性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5.5.3  标记的类型属性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5.5.4  列表简写属性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5.5.1  图像作为列表项的标记属性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除了传统的项目符号，CSS还提供了list-style-image属性，它可以将项目符号显示为任意图像。list-style-image属性设置将一个图像作为列表项的标记。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list-style-image : none | url (url) | inherit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参数：none默认不显示图像。url使用绝对或相对地址指定背景图像。inherit从父元素继承属性，部分浏览器不支持此属性。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5.5.2  列表项标记的位置属性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list-style-position属性设置列表项标记的位置，即设置作为对象的列表项标记如何根据文本排列。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list-style-position : outside | inside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参数：outside设置列表项目标记放在文本以外，且环绕文本不根据标记对齐。inside设置列表项目标记放在文本以内，且环绕文本根据标记对齐。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5.5.3  标记的类型属性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list-style-type属性设置元素的列表项所使用的预设标记。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list-style-type : disc | circle | square | decimal | lower-roman | upper-roman | lower-alpha | upper-alpha | none | armenian | cjk-ideographic | georgian | lower-greek | hebrew | hiragana | hiragana-iroha | katakana | katakana-iroha | lower-latin | upper-latin 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通常，项目列表主要采用&lt;ul&gt;或&lt;ol&gt;标签，然后配合&lt;li&gt;标签罗列各个项目。在CSS样式中，列表项的标记类型是通过属性list-style-type来修改的，无论是&lt;ul&gt;标签还是&lt;ol&gt;标签，都可以使用相同的属性值，而且效果是完全相同的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5.5.4  列表简写属性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list-style属性是列表的简写属性或称复合属性，可以把关于列表的所有属性值都写在这个属性中，也可以省略某几项。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list-style : list-style-type | list-style-position | list-style-image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参数：可以按顺序设置属性list-style-type、list-style-position、list-style-image。属性值之间用空格拼接。也可以直接设置inherit，从父元素继承。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5.5.4  列表简写属性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【例5-8】设置列表类型，本例文件5-8.html在浏览器中的显示效果如图5-11所示。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810" y="2884170"/>
            <a:ext cx="4196715" cy="321119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5.5.4  列表简写属性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【例5-9】设置列表项图像，本例文件5-9.html在浏览器中的显示效果如图5-12所示。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4640" y="2844165"/>
            <a:ext cx="3983355" cy="309372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5.5.4  列表简写属性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【例5-10】使用背景图像替代列表项标记示例。本例文件5-10.html在浏览器中的显示效果如图5-13所示。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7050" y="2935605"/>
            <a:ext cx="3605530" cy="315023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5.6  CSS3表格属性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605" y="3289300"/>
            <a:ext cx="8317230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5.6.1  合并边框属性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5.6.2  边框间隔属性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5.6.3  标题位置属性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5.6.4  单元格无内容显示方式属性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5.6.5  案例—使用斑马线表格制作装修工程年度排行榜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5.6.1  合并边框属性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border-collapse属性设置表格中行的边框与单元格的边框是合并在一起，还是按照标准的HTML样式分开，分别有各自的边框。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border-collapse : separate | collapse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参数：separate是默认值，边框分开，不合并。collapse表示边框合并，即如果两个边框相邻，则共同使用一个边框。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5.6.2  边框间隔属性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border-spacing属性设置当表格边框独立时，行和单元格的边框在横向和纵向上的间距，即设置相邻单元格边框间的距离。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border-spacing : length | length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参数：由浮点数字和单位标识符组成长度值，不可为负值。当只指定一个length值时，表示横向和纵向间距都用这个长度；当指定两个length值时，第1个表示横向间距，第2个表示纵向间距。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5.6.3  标题位置属性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caption-side属性设置表格的标题（caption元素）的位置在表格的哪一边。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caption-side : bottom | left | right | top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参数：默认值为top，表示标题在表格的上方。bottom表示标题在表格的下方。多数浏览器不支持left（标题在左边）、right（标题在右边）。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5.6.4  单元格无内容显示方式属性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empty-cells属性设置当表格的单元格无内容时，是否显示该单元格的边框。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empty-cells : hide | show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参数：show是默认值，表示当表格的单元格无内容时显示单元格的边框。hide表示当表格的单元格无内容时隐藏单元格边框。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5.6.4  单元格无内容显示方式属性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【例5-11】使用border-spacing属性设置表格属性。本例文件5-11.html在浏览器中的显示效果如图5-14所示。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8030" y="3013075"/>
            <a:ext cx="2974975" cy="315785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5.6.5  案例—使用斑马线表格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所谓斑马线表格，就是表格的奇数行和偶数行采用不同的样式，在行与行之间形成一种交替变换的效果。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【例5-12】使用斑马线表格制作装修工程年度排行榜，本例文件5-12.html在浏览器中的显示效果如图5-15所示。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2140" y="4176395"/>
            <a:ext cx="3737610" cy="227520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5.7  CSS3属性的应用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605" y="3289300"/>
            <a:ext cx="8317230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5.7.1  设置图像样式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5.7.2  设置表单样式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5.7.3  设置链接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5.7.4  创建导航菜单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5.7.1  设置图像样式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1．图像缩放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使用CSS样式控制图像的大小，可以通过width和height两个属性来实现。需要注意的是，当width和height两个属性的取值使用百分比数值时，它是相对于父元素而言的。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2．图像边框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图像边框就是利用border属性作用于图像元素而呈现的效果。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5.7.1  设置图像样式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【例5-13】设置图像边框示例。本例文件5-13.html在浏览器中的显示效果如图5-17所示。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3485" y="3285490"/>
            <a:ext cx="7556500" cy="273431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5.7.1  设置图像样式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3．图像的不透明度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在CSS3中，使用opacity属性能使图像呈现出不同透明效果。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语法：</a:t>
            </a: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opacity: value | inherit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参数：value表示不透明度的值，是一个介于0～1之间的浮点数值。其中，0表示完全透明，1表示完全不透明（默认值），0.5表示半透明。inherit表示opacity属性的值从父元素继承。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5.7.1  设置图像样式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【例5-14】设置图像的不透明度示例。本例文件5-14.html在浏览器中的显示效果如图5-18所示。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4085" y="2924175"/>
            <a:ext cx="8115935" cy="299529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5.7.2  设置表单样式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【例5-15】使用CSS样式美化常用的表单元素，制作馨美装修用户调查页面。本例文件5-15.html在浏览器中的显示效果如图5-19所示。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2775" y="2790825"/>
            <a:ext cx="3155950" cy="382079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5.7.3  设置链接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1．设置文字链接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【例5-16】使用CSS伪类设置超链接样式，鼠标指针悬停时有按下去的效果。本例文件5-16.html在浏览器显示效果如图5-20所示。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6820" y="3658235"/>
            <a:ext cx="4989830" cy="224472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5.7.3  设置链接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2．设置图文链接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对链接的修饰，可以利用背景图像将文字链接进一步美化。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【例5-17】图文链接示例。鼠标指针未悬停时文字链接的效果如图5-21（a）所示；鼠标指针悬停在文字链接上时的效果如图5-21（b）所示。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8295" y="4183380"/>
            <a:ext cx="7627620" cy="203581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5.7.4  创建导航菜单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1．纵向列表模式的导航菜单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【例5-18】制作纵向列表模式的导航菜单,如图5-22所示。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0785" y="2967355"/>
            <a:ext cx="7386955" cy="304736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5.7.4  创建导航菜单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2．横向列表模式的导航菜单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【例5-19】制作横向列表模式的导航菜单。如图5-25所示。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1255" y="3287395"/>
            <a:ext cx="7515225" cy="221996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64946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5.8  综合案例—制作馨美装修网购学堂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605" y="3289300"/>
            <a:ext cx="8317230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5.8.1  页面布局规划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5.8.2  页面的制作过程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5.8.1  页面布局规划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通过成熟的构思与设计，馨美装修网购学堂页面的效果如图5-27所示，页面布局示意图如图5-28所示。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3810" y="2926715"/>
            <a:ext cx="7103745" cy="375856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+mn-lt"/>
                <a:ea typeface="+mn-ea"/>
                <a:cs typeface="+mn-cs"/>
                <a:sym typeface="+mn-ea"/>
              </a:rPr>
              <a:t>5.8.2  页面的制作过程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1．前期准备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（1）栏目目录结构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（2）页面素材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（3）外部样式表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2．制作页面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dirty="0">
                <a:sym typeface="+mn-ea"/>
              </a:rPr>
              <a:t>（1）页面样式</a:t>
            </a:r>
            <a:r>
              <a:rPr lang="zh-CN" altLang="en-US" sz="2800" dirty="0">
                <a:sym typeface="+mn-ea"/>
              </a:rPr>
              <a:t>设计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（2）页面结构代码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习题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5</a:t>
            </a:r>
            <a:endParaRPr lang="en-US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1．使用CSS对页面中的网页元素加以修饰，制作如图5-32所示的页面。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2．使用CSS对页面中的网页元素加以修饰，制作如图5-33所示的页面。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COMMONDATA" val="eyJoZGlkIjoiYzZjOTM1MTZkYjlhMDFiZTJlZWZhNTQ1YWMzMjI1NDI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镶边</Template>
  <TotalTime>0</TotalTime>
  <Words>9555</Words>
  <Application>WPS 演示</Application>
  <PresentationFormat>宽屏</PresentationFormat>
  <Paragraphs>445</Paragraphs>
  <Slides>70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70</vt:i4>
      </vt:variant>
    </vt:vector>
  </HeadingPairs>
  <TitlesOfParts>
    <vt:vector size="83" baseType="lpstr">
      <vt:lpstr>Arial</vt:lpstr>
      <vt:lpstr>宋体</vt:lpstr>
      <vt:lpstr>Wingdings</vt:lpstr>
      <vt:lpstr>Calibri</vt:lpstr>
      <vt:lpstr>Franklin Gothic Book</vt:lpstr>
      <vt:lpstr>幼圆</vt:lpstr>
      <vt:lpstr>Wingdings 2</vt:lpstr>
      <vt:lpstr>微软雅黑</vt:lpstr>
      <vt:lpstr>Times New Roman</vt:lpstr>
      <vt:lpstr>Perpetua</vt:lpstr>
      <vt:lpstr>Arial Unicode MS</vt:lpstr>
      <vt:lpstr>平衡</vt:lpstr>
      <vt:lpstr>1_平衡</vt:lpstr>
      <vt:lpstr>PowerPoint 演示文稿</vt:lpstr>
      <vt:lpstr>第5章  使用CSS3修饰网页元素</vt:lpstr>
      <vt:lpstr>目录</vt:lpstr>
      <vt:lpstr>5.1  CSS3字体属性</vt:lpstr>
      <vt:lpstr>5.1.1  字体类型属性font-family </vt:lpstr>
      <vt:lpstr>5.1.2  字体尺寸属性font-size</vt:lpstr>
      <vt:lpstr>5.1.3  字体倾斜属性font-style</vt:lpstr>
      <vt:lpstr>5.1.4  小写字体属性font-variant</vt:lpstr>
      <vt:lpstr>5.1.5  字体粗细font-weight</vt:lpstr>
      <vt:lpstr>5.1.5  字体粗细font-weight</vt:lpstr>
      <vt:lpstr>5.2  CSS3文本属性</vt:lpstr>
      <vt:lpstr>5.2.1  文本颜色属性</vt:lpstr>
      <vt:lpstr>5.2.2  行高属性</vt:lpstr>
      <vt:lpstr>5.2.3  文本水平对齐方式属性</vt:lpstr>
      <vt:lpstr>5.2.4  为文本添加修饰属性</vt:lpstr>
      <vt:lpstr>5.2.5  段落首行缩进属性</vt:lpstr>
      <vt:lpstr>5.2.6  文本的阴影属性</vt:lpstr>
      <vt:lpstr>5.2.7  元素内部的空白属性</vt:lpstr>
      <vt:lpstr>5.2.8  文本的截断效果属性</vt:lpstr>
      <vt:lpstr>5.2.8  文本的截断效果属性</vt:lpstr>
      <vt:lpstr>5.3  CSS3背景属性</vt:lpstr>
      <vt:lpstr>5.3.1  背景颜色属性</vt:lpstr>
      <vt:lpstr>5.3.1  背景颜色属性</vt:lpstr>
      <vt:lpstr>5.3.2  背景图像属性</vt:lpstr>
      <vt:lpstr>5.3.2  背景图像属性</vt:lpstr>
      <vt:lpstr>5.3.3  重复背景图像属性</vt:lpstr>
      <vt:lpstr>5.3.3  重复背景图像属性</vt:lpstr>
      <vt:lpstr>5.3.4  固定背景图像属性</vt:lpstr>
      <vt:lpstr>5.3.5  背景图像位置属性</vt:lpstr>
      <vt:lpstr>5.3.6  背景图像大小属性</vt:lpstr>
      <vt:lpstr>5.3.7  背景属性</vt:lpstr>
      <vt:lpstr>5.3.8  背景图像起点属性</vt:lpstr>
      <vt:lpstr>5.3.8  背景图像起点属性</vt:lpstr>
      <vt:lpstr>5.4  CSS3尺寸属性</vt:lpstr>
      <vt:lpstr>5.4.1  宽度属性</vt:lpstr>
      <vt:lpstr>5.4.2  高度属性</vt:lpstr>
      <vt:lpstr>5.4.3  最小宽度属性</vt:lpstr>
      <vt:lpstr>5.4.4  最大宽度属性</vt:lpstr>
      <vt:lpstr>5.4.5  最小高度属性</vt:lpstr>
      <vt:lpstr>5.4.6  最大高度属性</vt:lpstr>
      <vt:lpstr>5.4.6  最大高度属性</vt:lpstr>
      <vt:lpstr>5.5  CSS3列表属性</vt:lpstr>
      <vt:lpstr>5.5.1  图像作为列表项的标记属性</vt:lpstr>
      <vt:lpstr>5.5.2  列表项标记的位置属性</vt:lpstr>
      <vt:lpstr>5.5.3  标记的类型属性</vt:lpstr>
      <vt:lpstr>5.5.4  列表简写属性</vt:lpstr>
      <vt:lpstr>5.5.4  列表简写属性</vt:lpstr>
      <vt:lpstr>5.5.4  列表简写属性</vt:lpstr>
      <vt:lpstr>5.5.4  列表简写属性</vt:lpstr>
      <vt:lpstr>5.6  CSS3表格属性</vt:lpstr>
      <vt:lpstr>5.6.1  合并边框属性</vt:lpstr>
      <vt:lpstr>5.6.2  边框间隔属性</vt:lpstr>
      <vt:lpstr>5.6.3  标题位置属性</vt:lpstr>
      <vt:lpstr>5.6.4  单元格无内容显示方式属性</vt:lpstr>
      <vt:lpstr>5.6.4  单元格无内容显示方式属性</vt:lpstr>
      <vt:lpstr>5.6.5  案例—使用斑马线表格</vt:lpstr>
      <vt:lpstr>5.7  CSS3属性的应用</vt:lpstr>
      <vt:lpstr>5.7.1  设置图像样式</vt:lpstr>
      <vt:lpstr>5.7.1  设置图像样式</vt:lpstr>
      <vt:lpstr>5.7.1  设置图像样式</vt:lpstr>
      <vt:lpstr>5.7.1  设置图像样式</vt:lpstr>
      <vt:lpstr>5.7.2  设置表单样式</vt:lpstr>
      <vt:lpstr>5.7.3  设置链接</vt:lpstr>
      <vt:lpstr>5.7.3  设置链接</vt:lpstr>
      <vt:lpstr>5.7.4  创建导航菜单</vt:lpstr>
      <vt:lpstr>5.7.4  创建导航菜单</vt:lpstr>
      <vt:lpstr>5.8  综合案例—制作馨美装修网购学堂</vt:lpstr>
      <vt:lpstr>5.8.1  页面布局规划</vt:lpstr>
      <vt:lpstr>5.8.2  页面的制作过程</vt:lpstr>
      <vt:lpstr>习题5</vt:lpstr>
    </vt:vector>
  </TitlesOfParts>
  <Company>Neusoft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Lixin Ma</dc:creator>
  <cp:lastModifiedBy>回归法师</cp:lastModifiedBy>
  <cp:revision>1036</cp:revision>
  <dcterms:created xsi:type="dcterms:W3CDTF">2013-04-09T00:17:00Z</dcterms:created>
  <dcterms:modified xsi:type="dcterms:W3CDTF">2022-09-29T08:44:15Z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6B44507142A64A62AE6442921B2D2B82</vt:lpwstr>
  </property>
  <property fmtid="{D5CDD505-2E9C-101B-9397-08002B2CF9AE}" pid="3" name="KSOProductBuildVer">
    <vt:lpwstr>2052-11.1.0.12358</vt:lpwstr>
  </property>
</Properties>
</file>